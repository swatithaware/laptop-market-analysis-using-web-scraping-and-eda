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67" r:id="rId4"/>
    <p:sldId id="269" r:id="rId5"/>
    <p:sldId id="268" r:id="rId6"/>
    <p:sldId id="270" r:id="rId7"/>
    <p:sldId id="263" r:id="rId8"/>
    <p:sldId id="264" r:id="rId9"/>
    <p:sldId id="266" r:id="rId10"/>
    <p:sldId id="265" r:id="rId11"/>
    <p:sldId id="262" r:id="rId12"/>
    <p:sldId id="274" r:id="rId13"/>
    <p:sldId id="275" r:id="rId14"/>
    <p:sldId id="271" r:id="rId15"/>
    <p:sldId id="272" r:id="rId16"/>
    <p:sldId id="277" r:id="rId17"/>
    <p:sldId id="282" r:id="rId18"/>
    <p:sldId id="281" r:id="rId19"/>
    <p:sldId id="283" r:id="rId20"/>
    <p:sldId id="286" r:id="rId21"/>
    <p:sldId id="285" r:id="rId22"/>
    <p:sldId id="273" r:id="rId23"/>
    <p:sldId id="276" r:id="rId24"/>
    <p:sldId id="280" r:id="rId25"/>
    <p:sldId id="287" r:id="rId26"/>
    <p:sldId id="278" r:id="rId27"/>
    <p:sldId id="279" r:id="rId28"/>
    <p:sldId id="259" r:id="rId29"/>
  </p:sldIdLst>
  <p:sldSz cx="12192000" cy="6858000"/>
  <p:notesSz cx="6858000" cy="9144000"/>
  <p:embeddedFontLst>
    <p:embeddedFont>
      <p:font typeface="Lato Black" panose="020F0502020204030203" pitchFamily="34" charset="0"/>
      <p:bold r:id="rId31"/>
      <p:boldItalic r:id="rId32"/>
    </p:embeddedFont>
    <p:embeddedFont>
      <p:font typeface="Libre Baskerville" panose="02000000000000000000"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7" roundtripDataSignature="AMtx7mirY7ZVHx6TZwajwKcMFXn2VnWIoQ=="/>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499D"/>
    <a:srgbClr val="FAED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45735" y="163902"/>
            <a:ext cx="12190815" cy="6694098"/>
          </a:xfrm>
          <a:prstGeom prst="rect">
            <a:avLst/>
          </a:prstGeom>
          <a:noFill/>
          <a:ln>
            <a:noFill/>
          </a:ln>
        </p:spPr>
      </p:pic>
      <p:sp>
        <p:nvSpPr>
          <p:cNvPr id="99" name="Google Shape;99;p1"/>
          <p:cNvSpPr txBox="1"/>
          <p:nvPr/>
        </p:nvSpPr>
        <p:spPr>
          <a:xfrm>
            <a:off x="2472904" y="3717986"/>
            <a:ext cx="7246189" cy="1077178"/>
          </a:xfrm>
          <a:prstGeom prst="rect">
            <a:avLst/>
          </a:prstGeom>
          <a:noFill/>
          <a:ln>
            <a:noFill/>
          </a:ln>
        </p:spPr>
        <p:txBody>
          <a:bodyPr spcFirstLastPara="1" wrap="square" lIns="91425" tIns="45700" rIns="91425" bIns="45700" anchor="t" anchorCtr="0">
            <a:spAutoFit/>
          </a:bodyPr>
          <a:lstStyle/>
          <a:p>
            <a:pPr lvl="0" algn="ctr">
              <a:buSzPts val="1800"/>
            </a:pPr>
            <a:r>
              <a:rPr lang="en-IN" sz="3200" b="1" dirty="0"/>
              <a:t>Laptop Market Analysis Using Web Scraping and EDA</a:t>
            </a:r>
            <a:endParaRPr sz="3200" b="1"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5" name="Google Shape;105;p3"/>
          <p:cNvSpPr txBox="1"/>
          <p:nvPr/>
        </p:nvSpPr>
        <p:spPr>
          <a:xfrm>
            <a:off x="427655" y="416554"/>
            <a:ext cx="11276161" cy="609357"/>
          </a:xfrm>
          <a:prstGeom prst="rect">
            <a:avLst/>
          </a:prstGeom>
          <a:ln/>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spAutoFit/>
          </a:bodyPr>
          <a:lstStyle/>
          <a:p>
            <a:pPr marL="0" marR="0" lvl="0" indent="0" rtl="0">
              <a:lnSpc>
                <a:spcPct val="80000"/>
              </a:lnSpc>
              <a:spcBef>
                <a:spcPts val="0"/>
              </a:spcBef>
              <a:spcAft>
                <a:spcPts val="0"/>
              </a:spcAft>
              <a:buClr>
                <a:srgbClr val="FF0000"/>
              </a:buClr>
              <a:buSzPts val="3200"/>
              <a:buFont typeface="Lato Black"/>
              <a:buNone/>
            </a:pPr>
            <a:r>
              <a:rPr lang="en-IN" sz="2800" b="0" i="0" u="none" strike="noStrike" cap="none" dirty="0">
                <a:solidFill>
                  <a:srgbClr val="FF0000"/>
                </a:solidFill>
                <a:latin typeface="Lato Black"/>
                <a:ea typeface="Lato Black"/>
                <a:cs typeface="Lato Black"/>
                <a:sym typeface="Lato Black"/>
              </a:rPr>
              <a:t>About me </a:t>
            </a:r>
          </a:p>
          <a:p>
            <a:pPr marL="0" marR="0" lvl="0" indent="0" rtl="0">
              <a:lnSpc>
                <a:spcPct val="80000"/>
              </a:lnSpc>
              <a:spcBef>
                <a:spcPts val="0"/>
              </a:spcBef>
              <a:spcAft>
                <a:spcPts val="0"/>
              </a:spcAft>
              <a:buClr>
                <a:srgbClr val="FF0000"/>
              </a:buClr>
              <a:buSzPts val="3200"/>
              <a:buFont typeface="Lato Black"/>
              <a:buNone/>
            </a:pPr>
            <a:r>
              <a:rPr lang="en-IN" b="1" dirty="0">
                <a:solidFill>
                  <a:schemeClr val="tx1"/>
                </a:solidFill>
                <a:latin typeface="Lato Black"/>
                <a:ea typeface="Lato Black"/>
                <a:cs typeface="Lato Black"/>
                <a:sym typeface="Lato Black"/>
              </a:rPr>
              <a:t> Swati Thaware</a:t>
            </a:r>
            <a:endParaRPr b="1" i="0" u="none" strike="noStrike" cap="none" dirty="0">
              <a:solidFill>
                <a:schemeClr val="tx1"/>
              </a:solidFill>
              <a:latin typeface="Calibri"/>
              <a:ea typeface="Calibri"/>
              <a:cs typeface="Calibri"/>
              <a:sym typeface="Calibri"/>
            </a:endParaRPr>
          </a:p>
        </p:txBody>
      </p:sp>
      <p:sp>
        <p:nvSpPr>
          <p:cNvPr id="23" name="Flowchart: Process 22">
            <a:extLst>
              <a:ext uri="{FF2B5EF4-FFF2-40B4-BE49-F238E27FC236}">
                <a16:creationId xmlns:a16="http://schemas.microsoft.com/office/drawing/2014/main" id="{924BDF2F-570F-3A26-F396-4E1E33510071}"/>
              </a:ext>
            </a:extLst>
          </p:cNvPr>
          <p:cNvSpPr/>
          <p:nvPr/>
        </p:nvSpPr>
        <p:spPr>
          <a:xfrm>
            <a:off x="508272" y="2990145"/>
            <a:ext cx="11195546" cy="1638878"/>
          </a:xfrm>
          <a:prstGeom prst="flowChartProcess">
            <a:avLst/>
          </a:prstGeom>
          <a:ln>
            <a:solidFill>
              <a:srgbClr val="FF000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dk1"/>
          </a:lnRef>
          <a:fillRef idx="1">
            <a:schemeClr val="lt1"/>
          </a:fillRef>
          <a:effectRef idx="0">
            <a:schemeClr val="dk1"/>
          </a:effectRef>
          <a:fontRef idx="minor">
            <a:schemeClr val="dk1"/>
          </a:fontRef>
        </p:style>
        <p:txBody>
          <a:bodyPr rtlCol="0" anchor="ctr"/>
          <a:lstStyle/>
          <a:p>
            <a:r>
              <a:rPr lang="en-IN" sz="2400" b="1" dirty="0">
                <a:solidFill>
                  <a:srgbClr val="FF0000"/>
                </a:solidFill>
              </a:rPr>
              <a:t> </a:t>
            </a:r>
            <a:r>
              <a:rPr lang="en-IN" sz="2400" dirty="0"/>
              <a:t>💡</a:t>
            </a:r>
            <a:r>
              <a:rPr lang="en-IN" sz="2400" b="1" dirty="0">
                <a:solidFill>
                  <a:srgbClr val="FF0000"/>
                </a:solidFill>
              </a:rPr>
              <a:t> Why Data Science?</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1800" dirty="0"/>
              <a:t>During my teaching career as an Asst. Professor, I taught Data Science subjects. While teaching, I became interested in how data can be used to solve real-world business problems.</a:t>
            </a:r>
          </a:p>
        </p:txBody>
      </p:sp>
      <p:sp>
        <p:nvSpPr>
          <p:cNvPr id="25" name="Flowchart: Process 24">
            <a:extLst>
              <a:ext uri="{FF2B5EF4-FFF2-40B4-BE49-F238E27FC236}">
                <a16:creationId xmlns:a16="http://schemas.microsoft.com/office/drawing/2014/main" id="{EF9C69CD-8096-4A18-6DE7-A222FBC99B3B}"/>
              </a:ext>
            </a:extLst>
          </p:cNvPr>
          <p:cNvSpPr/>
          <p:nvPr/>
        </p:nvSpPr>
        <p:spPr>
          <a:xfrm>
            <a:off x="508272" y="1286948"/>
            <a:ext cx="11175456" cy="1170790"/>
          </a:xfrm>
          <a:prstGeom prst="flowChartProcess">
            <a:avLst/>
          </a:prstGeom>
          <a:ln>
            <a:solidFill>
              <a:srgbClr val="FF000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6"/>
          </a:lnRef>
          <a:fillRef idx="1">
            <a:schemeClr val="lt1"/>
          </a:fillRef>
          <a:effectRef idx="0">
            <a:schemeClr val="accent6"/>
          </a:effectRef>
          <a:fontRef idx="minor">
            <a:schemeClr val="dk1"/>
          </a:fontRef>
        </p:style>
        <p:txBody>
          <a:bodyPr rtlCol="0" anchor="ctr"/>
          <a:lstStyle/>
          <a:p>
            <a:r>
              <a:rPr lang="en-IN" sz="2400" b="1" dirty="0">
                <a:solidFill>
                  <a:srgbClr val="FF0000"/>
                </a:solidFill>
              </a:rPr>
              <a:t>         Education</a:t>
            </a:r>
            <a:r>
              <a:rPr lang="en-IN" sz="1800" b="1" dirty="0">
                <a:solidFill>
                  <a:srgbClr val="FF0000"/>
                </a:solidFill>
              </a:rPr>
              <a:t> </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dirty="0"/>
              <a:t>I completed my</a:t>
            </a:r>
            <a:r>
              <a:rPr lang="en-GB" sz="1800" b="1" dirty="0"/>
              <a:t>  </a:t>
            </a:r>
            <a:r>
              <a:rPr lang="en-GB" sz="1800" b="1" dirty="0" err="1"/>
              <a:t>M.Tech</a:t>
            </a:r>
            <a:r>
              <a:rPr lang="en-GB" sz="1800" b="1" dirty="0"/>
              <a:t> in Computer Science and Engineering</a:t>
            </a:r>
            <a:r>
              <a:rPr lang="en-IN" sz="1800" dirty="0"/>
              <a:t> from </a:t>
            </a:r>
            <a:r>
              <a:rPr lang="en-GB" sz="1800" b="1" dirty="0"/>
              <a:t>RTM Nagpur University</a:t>
            </a:r>
            <a:r>
              <a:rPr lang="en-IN" sz="1800" dirty="0"/>
              <a:t> in </a:t>
            </a:r>
            <a:r>
              <a:rPr lang="en-GB" sz="1800" b="1" dirty="0"/>
              <a:t>2022</a:t>
            </a:r>
            <a:r>
              <a:rPr lang="en-IN" dirty="0"/>
              <a:t>. </a:t>
            </a:r>
          </a:p>
        </p:txBody>
      </p:sp>
      <p:sp>
        <p:nvSpPr>
          <p:cNvPr id="29" name="Flowchart: Process 28">
            <a:extLst>
              <a:ext uri="{FF2B5EF4-FFF2-40B4-BE49-F238E27FC236}">
                <a16:creationId xmlns:a16="http://schemas.microsoft.com/office/drawing/2014/main" id="{11B40C22-46F7-F97C-49EF-DB084E20E706}"/>
              </a:ext>
            </a:extLst>
          </p:cNvPr>
          <p:cNvSpPr/>
          <p:nvPr/>
        </p:nvSpPr>
        <p:spPr>
          <a:xfrm>
            <a:off x="508271" y="5103767"/>
            <a:ext cx="11195546" cy="1170790"/>
          </a:xfrm>
          <a:prstGeom prst="flowChartProcess">
            <a:avLst/>
          </a:prstGeom>
          <a:ln>
            <a:solidFill>
              <a:srgbClr val="FF000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dk1"/>
          </a:lnRef>
          <a:fillRef idx="1">
            <a:schemeClr val="lt1"/>
          </a:fillRef>
          <a:effectRef idx="0">
            <a:schemeClr val="dk1"/>
          </a:effectRef>
          <a:fontRef idx="minor">
            <a:schemeClr val="dk1"/>
          </a:fontRef>
        </p:style>
        <p:txBody>
          <a:bodyPr rtlCol="0" anchor="ctr"/>
          <a:lstStyle/>
          <a:p>
            <a:r>
              <a:rPr lang="en-IN" sz="2400" b="1" dirty="0">
                <a:solidFill>
                  <a:srgbClr val="FF0000"/>
                </a:solidFill>
              </a:rPr>
              <a:t>         Any work experience?</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1800" dirty="0"/>
              <a:t>1 yr. Experience as Asst. Professor at (RTM University Nagpur)</a:t>
            </a:r>
          </a:p>
        </p:txBody>
      </p:sp>
      <p:pic>
        <p:nvPicPr>
          <p:cNvPr id="31" name="Graphic 30" descr="Graduation cap with solid fill">
            <a:extLst>
              <a:ext uri="{FF2B5EF4-FFF2-40B4-BE49-F238E27FC236}">
                <a16:creationId xmlns:a16="http://schemas.microsoft.com/office/drawing/2014/main" id="{CF3782F4-608D-E897-3820-990ED8EDC1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1471" y="1286948"/>
            <a:ext cx="594816" cy="624114"/>
          </a:xfrm>
          <a:prstGeom prst="rect">
            <a:avLst/>
          </a:prstGeom>
        </p:spPr>
      </p:pic>
      <p:pic>
        <p:nvPicPr>
          <p:cNvPr id="33" name="Graphic 32" descr="Briefcase with solid fill">
            <a:extLst>
              <a:ext uri="{FF2B5EF4-FFF2-40B4-BE49-F238E27FC236}">
                <a16:creationId xmlns:a16="http://schemas.microsoft.com/office/drawing/2014/main" id="{874EF630-9F14-8988-8867-A75A109632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1471" y="5270656"/>
            <a:ext cx="396893" cy="39689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lowchart: Process 2">
            <a:extLst>
              <a:ext uri="{FF2B5EF4-FFF2-40B4-BE49-F238E27FC236}">
                <a16:creationId xmlns:a16="http://schemas.microsoft.com/office/drawing/2014/main" id="{760DEE6A-53FB-6B52-648F-356A035393A6}"/>
              </a:ext>
            </a:extLst>
          </p:cNvPr>
          <p:cNvSpPr/>
          <p:nvPr/>
        </p:nvSpPr>
        <p:spPr>
          <a:xfrm>
            <a:off x="972457" y="376918"/>
            <a:ext cx="10682513" cy="870857"/>
          </a:xfrm>
          <a:prstGeom prst="flowChartProcess">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800" b="1" dirty="0"/>
              <a:t>Introduction</a:t>
            </a:r>
            <a:endParaRPr lang="en-IN" sz="2800" dirty="0"/>
          </a:p>
        </p:txBody>
      </p:sp>
      <p:sp>
        <p:nvSpPr>
          <p:cNvPr id="4" name="Rectangle 3">
            <a:extLst>
              <a:ext uri="{FF2B5EF4-FFF2-40B4-BE49-F238E27FC236}">
                <a16:creationId xmlns:a16="http://schemas.microsoft.com/office/drawing/2014/main" id="{13C1938B-F44D-E47B-ECB9-48E4130B70BA}"/>
              </a:ext>
            </a:extLst>
          </p:cNvPr>
          <p:cNvSpPr/>
          <p:nvPr/>
        </p:nvSpPr>
        <p:spPr>
          <a:xfrm>
            <a:off x="972457" y="1698172"/>
            <a:ext cx="10682512" cy="5159828"/>
          </a:xfrm>
          <a:prstGeom prst="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r>
              <a:rPr lang="en-IN" sz="2400" b="1" dirty="0"/>
              <a:t>           Laptop Market</a:t>
            </a:r>
          </a:p>
          <a:p>
            <a:endParaRPr lang="en-IN" sz="2400" b="1" dirty="0"/>
          </a:p>
          <a:p>
            <a:pPr marL="114300" indent="0">
              <a:buNone/>
            </a:pPr>
            <a:endParaRPr lang="en-IN" b="1" dirty="0"/>
          </a:p>
          <a:p>
            <a:pPr marL="285750" indent="-285750">
              <a:buFont typeface="Arial" panose="020B0604020202020204" pitchFamily="34" charset="0"/>
              <a:buChar char="•"/>
            </a:pPr>
            <a:r>
              <a:rPr lang="en-IN" sz="2000" dirty="0"/>
              <a:t>Wide variety of laptop brands (HP, Dell ,Apple, etc.) .</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dirty="0"/>
              <a:t>Multiple hardware configurations (Processor, RAM, SSD/HDD, Graphics Card). </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dirty="0"/>
              <a:t>Different software options (Windows, macOS, Linux). </a:t>
            </a:r>
          </a:p>
          <a:p>
            <a:pPr marL="4000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dirty="0"/>
              <a:t>Broad price ranges, from budget to premium laptops .</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dirty="0"/>
              <a:t>Increasing consumer choice due to numerous models and features.</a:t>
            </a:r>
          </a:p>
          <a:p>
            <a:pPr marL="285750" indent="-285750">
              <a:buFont typeface="Arial" panose="020B0604020202020204" pitchFamily="34" charset="0"/>
              <a:buChar char="•"/>
            </a:pPr>
            <a:r>
              <a:rPr lang="en-IN" sz="2000" dirty="0"/>
              <a:t>Frequent discounts and offers on e-commerce platforms, Growing demand for laptops in</a:t>
            </a:r>
          </a:p>
          <a:p>
            <a:pPr marL="114300"/>
            <a:r>
              <a:rPr lang="en-IN" sz="2000" dirty="0"/>
              <a:t>   education, business, gaming, and personal use.</a:t>
            </a:r>
          </a:p>
        </p:txBody>
      </p:sp>
      <p:pic>
        <p:nvPicPr>
          <p:cNvPr id="8" name="Graphic 7" descr="Laptop with solid fill">
            <a:extLst>
              <a:ext uri="{FF2B5EF4-FFF2-40B4-BE49-F238E27FC236}">
                <a16:creationId xmlns:a16="http://schemas.microsoft.com/office/drawing/2014/main" id="{A5CB12F3-CEC8-4338-1B50-EEE337A5915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77256" y="1922914"/>
            <a:ext cx="609601" cy="609601"/>
          </a:xfrm>
          <a:prstGeom prst="rect">
            <a:avLst/>
          </a:prstGeom>
        </p:spPr>
      </p:pic>
    </p:spTree>
    <p:extLst>
      <p:ext uri="{BB962C8B-B14F-4D97-AF65-F5344CB8AC3E}">
        <p14:creationId xmlns:p14="http://schemas.microsoft.com/office/powerpoint/2010/main" val="4181636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5B4FED-C387-21F2-1F1E-909F0572443B}"/>
              </a:ext>
            </a:extLst>
          </p:cNvPr>
          <p:cNvSpPr/>
          <p:nvPr/>
        </p:nvSpPr>
        <p:spPr>
          <a:xfrm>
            <a:off x="769255" y="271489"/>
            <a:ext cx="10087429" cy="885371"/>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2800" b="1" dirty="0"/>
              <a:t>Project Focus</a:t>
            </a:r>
            <a:endParaRPr lang="en-IN" sz="2800" dirty="0"/>
          </a:p>
        </p:txBody>
      </p:sp>
      <p:pic>
        <p:nvPicPr>
          <p:cNvPr id="7" name="Graphic 6" descr="Bullseye with solid fill">
            <a:extLst>
              <a:ext uri="{FF2B5EF4-FFF2-40B4-BE49-F238E27FC236}">
                <a16:creationId xmlns:a16="http://schemas.microsoft.com/office/drawing/2014/main" id="{304115F9-5413-1A9A-5363-54804BAEC1A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66752" y="473384"/>
            <a:ext cx="481580" cy="481580"/>
          </a:xfrm>
          <a:prstGeom prst="rect">
            <a:avLst/>
          </a:prstGeom>
        </p:spPr>
      </p:pic>
      <p:sp>
        <p:nvSpPr>
          <p:cNvPr id="8" name="Rectangle 7">
            <a:extLst>
              <a:ext uri="{FF2B5EF4-FFF2-40B4-BE49-F238E27FC236}">
                <a16:creationId xmlns:a16="http://schemas.microsoft.com/office/drawing/2014/main" id="{1AABB434-AB11-5E1F-872D-0A03D6129067}"/>
              </a:ext>
            </a:extLst>
          </p:cNvPr>
          <p:cNvSpPr/>
          <p:nvPr/>
        </p:nvSpPr>
        <p:spPr>
          <a:xfrm>
            <a:off x="769255" y="1857828"/>
            <a:ext cx="10087429" cy="4339771"/>
          </a:xfrm>
          <a:prstGeom prst="rect">
            <a:avLst/>
          </a:prstGeom>
          <a:ln>
            <a:solidFill>
              <a:srgbClr val="FAED48"/>
            </a:solidFill>
          </a:ln>
        </p:spPr>
        <p:style>
          <a:lnRef idx="1">
            <a:schemeClr val="accent3"/>
          </a:lnRef>
          <a:fillRef idx="2">
            <a:schemeClr val="accent3"/>
          </a:fillRef>
          <a:effectRef idx="1">
            <a:schemeClr val="accent3"/>
          </a:effectRef>
          <a:fontRef idx="minor">
            <a:schemeClr val="dk1"/>
          </a:fontRef>
        </p:style>
        <p:txBody>
          <a:bodyPr rtlCol="0" anchor="ctr"/>
          <a:lstStyle/>
          <a:p>
            <a:pPr marL="114300" indent="0">
              <a:buNone/>
            </a:pPr>
            <a:r>
              <a:rPr lang="en-IN" sz="2400" dirty="0"/>
              <a:t>📥</a:t>
            </a:r>
            <a:r>
              <a:rPr lang="en-GB" sz="2400" dirty="0"/>
              <a:t>Collect real world laptop data.</a:t>
            </a:r>
          </a:p>
          <a:p>
            <a:pPr marL="571500" indent="-457200"/>
            <a:endParaRPr lang="en-GB" sz="2400" dirty="0"/>
          </a:p>
          <a:p>
            <a:pPr marL="114300" indent="0">
              <a:buNone/>
            </a:pPr>
            <a:r>
              <a:rPr lang="en-IN" sz="2400" dirty="0"/>
              <a:t> 📈</a:t>
            </a:r>
            <a:r>
              <a:rPr lang="en-GB" sz="2400" dirty="0"/>
              <a:t>Analyse the market treads.</a:t>
            </a:r>
          </a:p>
          <a:p>
            <a:pPr marL="571500" indent="-457200"/>
            <a:endParaRPr lang="en-GB" sz="2400" dirty="0"/>
          </a:p>
          <a:p>
            <a:pPr marL="114300" indent="0">
              <a:buNone/>
            </a:pPr>
            <a:r>
              <a:rPr lang="en-IN" sz="2400" dirty="0"/>
              <a:t>💰</a:t>
            </a:r>
            <a:r>
              <a:rPr lang="en-GB" sz="2400" dirty="0"/>
              <a:t>Study pricing the patterns.</a:t>
            </a:r>
          </a:p>
          <a:p>
            <a:pPr marL="571500" indent="-457200"/>
            <a:endParaRPr lang="en-GB" sz="2400" dirty="0"/>
          </a:p>
          <a:p>
            <a:pPr marL="114300" indent="0">
              <a:buNone/>
            </a:pPr>
            <a:r>
              <a:rPr lang="en-IN" sz="2400" dirty="0"/>
              <a:t>📊 </a:t>
            </a:r>
            <a:r>
              <a:rPr lang="en-GB" sz="2400" dirty="0"/>
              <a:t>Generate the business insights</a:t>
            </a:r>
            <a:r>
              <a:rPr lang="en-GB" sz="1050" dirty="0"/>
              <a:t>.</a:t>
            </a:r>
            <a:endParaRPr lang="en-IN" dirty="0"/>
          </a:p>
        </p:txBody>
      </p:sp>
    </p:spTree>
    <p:extLst>
      <p:ext uri="{BB962C8B-B14F-4D97-AF65-F5344CB8AC3E}">
        <p14:creationId xmlns:p14="http://schemas.microsoft.com/office/powerpoint/2010/main" val="1570630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34D88-CCA5-BAA0-C2DE-30A79FA530DD}"/>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502CDC9B-03D4-6D7E-07AF-1119E4AD50DD}"/>
              </a:ext>
            </a:extLst>
          </p:cNvPr>
          <p:cNvSpPr>
            <a:spLocks noGrp="1"/>
          </p:cNvSpPr>
          <p:nvPr>
            <p:ph type="body" idx="1"/>
          </p:nvPr>
        </p:nvSpPr>
        <p:spPr>
          <a:ln/>
        </p:spPr>
        <p:style>
          <a:lnRef idx="1">
            <a:schemeClr val="accent3"/>
          </a:lnRef>
          <a:fillRef idx="2">
            <a:schemeClr val="accent3"/>
          </a:fillRef>
          <a:effectRef idx="1">
            <a:schemeClr val="accent3"/>
          </a:effectRef>
          <a:fontRef idx="minor">
            <a:schemeClr val="dk1"/>
          </a:fontRef>
        </p:style>
        <p:txBody>
          <a:bodyPr/>
          <a:lstStyle/>
          <a:p>
            <a:pPr marL="114300" indent="0">
              <a:buNone/>
            </a:pPr>
            <a:r>
              <a:rPr lang="en-IN" sz="2400" dirty="0"/>
              <a:t>⚠️ </a:t>
            </a:r>
            <a:r>
              <a:rPr lang="en-IN" sz="2400" b="1" dirty="0"/>
              <a:t>Business Challenge</a:t>
            </a:r>
          </a:p>
          <a:p>
            <a:pPr marL="114300" indent="0">
              <a:buNone/>
            </a:pPr>
            <a:endParaRPr lang="en-IN" b="1" dirty="0"/>
          </a:p>
          <a:p>
            <a:r>
              <a:rPr lang="en-IN" sz="2000" dirty="0"/>
              <a:t>Understanding the pricing strategies with discount and offers</a:t>
            </a:r>
          </a:p>
          <a:p>
            <a:r>
              <a:rPr lang="en-IN" sz="2000" dirty="0"/>
              <a:t>Identify market trends</a:t>
            </a:r>
          </a:p>
          <a:p>
            <a:endParaRPr lang="en-IN" dirty="0"/>
          </a:p>
        </p:txBody>
      </p:sp>
      <p:sp>
        <p:nvSpPr>
          <p:cNvPr id="4" name="Text Placeholder 3">
            <a:extLst>
              <a:ext uri="{FF2B5EF4-FFF2-40B4-BE49-F238E27FC236}">
                <a16:creationId xmlns:a16="http://schemas.microsoft.com/office/drawing/2014/main" id="{D3B58E56-00F0-BF0F-DAF9-EBFD94BD0165}"/>
              </a:ext>
            </a:extLst>
          </p:cNvPr>
          <p:cNvSpPr>
            <a:spLocks noGrp="1"/>
          </p:cNvSpPr>
          <p:nvPr>
            <p:ph type="body" idx="2"/>
          </p:nvPr>
        </p:nvSpPr>
        <p:spPr>
          <a:xfrm>
            <a:off x="6172200" y="1825625"/>
            <a:ext cx="5294086" cy="4351338"/>
          </a:xfrm>
          <a:ln/>
        </p:spPr>
        <p:style>
          <a:lnRef idx="1">
            <a:schemeClr val="accent3"/>
          </a:lnRef>
          <a:fillRef idx="2">
            <a:schemeClr val="accent3"/>
          </a:fillRef>
          <a:effectRef idx="1">
            <a:schemeClr val="accent3"/>
          </a:effectRef>
          <a:fontRef idx="minor">
            <a:schemeClr val="dk1"/>
          </a:fontRef>
        </p:style>
        <p:txBody>
          <a:bodyPr/>
          <a:lstStyle/>
          <a:p>
            <a:pPr marL="114300" indent="0">
              <a:buNone/>
            </a:pPr>
            <a:r>
              <a:rPr lang="en-IN" sz="2400" dirty="0"/>
              <a:t>💡</a:t>
            </a:r>
            <a:r>
              <a:rPr lang="en-GB" sz="2400" b="1" dirty="0"/>
              <a:t>Solution</a:t>
            </a:r>
          </a:p>
          <a:p>
            <a:pPr marL="114300" indent="0">
              <a:buNone/>
            </a:pPr>
            <a:endParaRPr lang="en-GB" b="1" dirty="0"/>
          </a:p>
          <a:p>
            <a:r>
              <a:rPr lang="en-IN" sz="2000" dirty="0"/>
              <a:t>Build a structure dataset</a:t>
            </a:r>
          </a:p>
          <a:p>
            <a:r>
              <a:rPr lang="en-IN" sz="2000" dirty="0"/>
              <a:t> Perform Clean data</a:t>
            </a:r>
          </a:p>
          <a:p>
            <a:r>
              <a:rPr lang="en-IN" sz="2000" dirty="0"/>
              <a:t>Perform EDA</a:t>
            </a:r>
          </a:p>
          <a:p>
            <a:r>
              <a:rPr lang="en-IN" sz="2000" dirty="0"/>
              <a:t> Generate insights</a:t>
            </a:r>
          </a:p>
          <a:p>
            <a:endParaRPr lang="en-IN" dirty="0"/>
          </a:p>
        </p:txBody>
      </p:sp>
      <p:sp>
        <p:nvSpPr>
          <p:cNvPr id="6" name="Rectangle 5">
            <a:extLst>
              <a:ext uri="{FF2B5EF4-FFF2-40B4-BE49-F238E27FC236}">
                <a16:creationId xmlns:a16="http://schemas.microsoft.com/office/drawing/2014/main" id="{43DF6AA0-CBF0-8DE0-48BD-4C2BFA1C97B5}"/>
              </a:ext>
            </a:extLst>
          </p:cNvPr>
          <p:cNvSpPr/>
          <p:nvPr/>
        </p:nvSpPr>
        <p:spPr>
          <a:xfrm>
            <a:off x="867228" y="369888"/>
            <a:ext cx="10628086" cy="1084158"/>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800" b="1" dirty="0"/>
              <a:t>Business Problem Statement</a:t>
            </a:r>
            <a:endParaRPr lang="en-IN" sz="2800" dirty="0"/>
          </a:p>
        </p:txBody>
      </p:sp>
    </p:spTree>
    <p:extLst>
      <p:ext uri="{BB962C8B-B14F-4D97-AF65-F5344CB8AC3E}">
        <p14:creationId xmlns:p14="http://schemas.microsoft.com/office/powerpoint/2010/main" val="407007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a:extLst>
              <a:ext uri="{FF2B5EF4-FFF2-40B4-BE49-F238E27FC236}">
                <a16:creationId xmlns:a16="http://schemas.microsoft.com/office/drawing/2014/main" id="{299F9DDE-3563-994E-1DAF-CD31A3F2A9E8}"/>
              </a:ext>
            </a:extLst>
          </p:cNvPr>
          <p:cNvSpPr/>
          <p:nvPr/>
        </p:nvSpPr>
        <p:spPr>
          <a:xfrm>
            <a:off x="595086" y="348343"/>
            <a:ext cx="10808790" cy="783771"/>
          </a:xfrm>
          <a:prstGeom prst="flowChartProcess">
            <a:avLst/>
          </a:prstGeom>
          <a:ln/>
        </p:spPr>
        <p:style>
          <a:lnRef idx="1">
            <a:schemeClr val="accent2"/>
          </a:lnRef>
          <a:fillRef idx="2">
            <a:schemeClr val="accent2"/>
          </a:fillRef>
          <a:effectRef idx="1">
            <a:schemeClr val="accent2"/>
          </a:effectRef>
          <a:fontRef idx="minor">
            <a:schemeClr val="dk1"/>
          </a:fontRef>
        </p:style>
        <p:txBody>
          <a:bodyPr rtlCol="0" anchor="ctr"/>
          <a:lstStyle/>
          <a:p>
            <a:pPr marL="114300" lvl="0" algn="ctr">
              <a:lnSpc>
                <a:spcPct val="70000"/>
              </a:lnSpc>
              <a:spcBef>
                <a:spcPts val="1000"/>
              </a:spcBef>
              <a:buSzPts val="1800"/>
            </a:pPr>
            <a:r>
              <a:rPr lang="en-IN" sz="2800" b="1" dirty="0"/>
              <a:t>Project Objectives</a:t>
            </a:r>
          </a:p>
        </p:txBody>
      </p:sp>
      <p:sp>
        <p:nvSpPr>
          <p:cNvPr id="6" name="Rectangle: Rounded Corners 5">
            <a:extLst>
              <a:ext uri="{FF2B5EF4-FFF2-40B4-BE49-F238E27FC236}">
                <a16:creationId xmlns:a16="http://schemas.microsoft.com/office/drawing/2014/main" id="{46566439-175A-7406-3A70-307E89EA65C1}"/>
              </a:ext>
            </a:extLst>
          </p:cNvPr>
          <p:cNvSpPr/>
          <p:nvPr/>
        </p:nvSpPr>
        <p:spPr>
          <a:xfrm>
            <a:off x="464018" y="1620631"/>
            <a:ext cx="4055737" cy="509342"/>
          </a:xfrm>
          <a:prstGeom prst="roundRect">
            <a:avLst/>
          </a:prstGeom>
          <a:solidFill>
            <a:schemeClr val="accent3">
              <a:lumMod val="20000"/>
              <a:lumOff val="8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800" dirty="0"/>
              <a:t>📥 </a:t>
            </a:r>
            <a:r>
              <a:rPr lang="en-GB" sz="1800" b="1" dirty="0"/>
              <a:t>Data Collection</a:t>
            </a:r>
            <a:endParaRPr lang="en-IN" sz="1800" b="1" dirty="0"/>
          </a:p>
        </p:txBody>
      </p:sp>
      <p:sp>
        <p:nvSpPr>
          <p:cNvPr id="8" name="Rectangle: Rounded Corners 7">
            <a:extLst>
              <a:ext uri="{FF2B5EF4-FFF2-40B4-BE49-F238E27FC236}">
                <a16:creationId xmlns:a16="http://schemas.microsoft.com/office/drawing/2014/main" id="{03D4B8FA-10EB-D0FD-3453-757326B9B6E9}"/>
              </a:ext>
            </a:extLst>
          </p:cNvPr>
          <p:cNvSpPr/>
          <p:nvPr/>
        </p:nvSpPr>
        <p:spPr>
          <a:xfrm>
            <a:off x="464018" y="2631264"/>
            <a:ext cx="4055737" cy="645360"/>
          </a:xfrm>
          <a:prstGeom prst="roundRect">
            <a:avLst/>
          </a:prstGeom>
          <a:solidFill>
            <a:schemeClr val="accent6">
              <a:lumMod val="20000"/>
              <a:lumOff val="8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800" dirty="0"/>
              <a:t>🧹 </a:t>
            </a:r>
            <a:r>
              <a:rPr lang="en-GB" sz="1800" b="1" dirty="0"/>
              <a:t>Data cleaning</a:t>
            </a:r>
            <a:endParaRPr lang="en-IN" sz="1800" b="1" dirty="0"/>
          </a:p>
        </p:txBody>
      </p:sp>
      <p:sp>
        <p:nvSpPr>
          <p:cNvPr id="9" name="Rectangle: Rounded Corners 8">
            <a:extLst>
              <a:ext uri="{FF2B5EF4-FFF2-40B4-BE49-F238E27FC236}">
                <a16:creationId xmlns:a16="http://schemas.microsoft.com/office/drawing/2014/main" id="{D90CD1F0-AA1E-A9B6-EF7D-90DBCB1BF77E}"/>
              </a:ext>
            </a:extLst>
          </p:cNvPr>
          <p:cNvSpPr/>
          <p:nvPr/>
        </p:nvSpPr>
        <p:spPr>
          <a:xfrm>
            <a:off x="464018" y="3695029"/>
            <a:ext cx="4115615" cy="658134"/>
          </a:xfrm>
          <a:prstGeom prst="roundRect">
            <a:avLst/>
          </a:prstGeom>
          <a:solidFill>
            <a:schemeClr val="accent5">
              <a:lumMod val="20000"/>
              <a:lumOff val="8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800" dirty="0"/>
              <a:t>  🛠️ </a:t>
            </a:r>
            <a:r>
              <a:rPr lang="en-GB" sz="1800" b="1" dirty="0"/>
              <a:t>Feature Engineering</a:t>
            </a:r>
            <a:endParaRPr lang="en-IN" sz="1800" b="1" dirty="0"/>
          </a:p>
        </p:txBody>
      </p:sp>
      <p:sp>
        <p:nvSpPr>
          <p:cNvPr id="10" name="Rectangle: Rounded Corners 9">
            <a:extLst>
              <a:ext uri="{FF2B5EF4-FFF2-40B4-BE49-F238E27FC236}">
                <a16:creationId xmlns:a16="http://schemas.microsoft.com/office/drawing/2014/main" id="{088D2E4D-A283-2DC8-942D-72FAE03C2C0C}"/>
              </a:ext>
            </a:extLst>
          </p:cNvPr>
          <p:cNvSpPr/>
          <p:nvPr/>
        </p:nvSpPr>
        <p:spPr>
          <a:xfrm>
            <a:off x="469538" y="4841680"/>
            <a:ext cx="4110094" cy="561285"/>
          </a:xfrm>
          <a:prstGeom prst="roundRect">
            <a:avLst/>
          </a:prstGeom>
          <a:solidFill>
            <a:schemeClr val="accent4">
              <a:lumMod val="20000"/>
              <a:lumOff val="8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800" dirty="0"/>
              <a:t>📊 </a:t>
            </a:r>
            <a:r>
              <a:rPr lang="en-GB" sz="1800" b="1" dirty="0"/>
              <a:t>EDA</a:t>
            </a:r>
            <a:endParaRPr lang="en-IN" sz="1800" b="1" dirty="0"/>
          </a:p>
        </p:txBody>
      </p:sp>
      <p:sp>
        <p:nvSpPr>
          <p:cNvPr id="11" name="Rectangle: Rounded Corners 10">
            <a:extLst>
              <a:ext uri="{FF2B5EF4-FFF2-40B4-BE49-F238E27FC236}">
                <a16:creationId xmlns:a16="http://schemas.microsoft.com/office/drawing/2014/main" id="{51ADDBE6-CB72-FCE0-D754-6B6DFF8F0156}"/>
              </a:ext>
            </a:extLst>
          </p:cNvPr>
          <p:cNvSpPr/>
          <p:nvPr/>
        </p:nvSpPr>
        <p:spPr>
          <a:xfrm>
            <a:off x="469538" y="5850400"/>
            <a:ext cx="4115615" cy="417287"/>
          </a:xfrm>
          <a:prstGeom prst="roundRect">
            <a:avLst/>
          </a:prstGeom>
          <a:solidFill>
            <a:schemeClr val="accent2">
              <a:lumMod val="20000"/>
              <a:lumOff val="8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800" dirty="0"/>
              <a:t>   💡 </a:t>
            </a:r>
            <a:r>
              <a:rPr lang="en-GB" sz="1800" b="1" dirty="0"/>
              <a:t>Business Insights</a:t>
            </a:r>
            <a:endParaRPr lang="en-IN" sz="1800" b="1" dirty="0"/>
          </a:p>
        </p:txBody>
      </p:sp>
      <p:sp>
        <p:nvSpPr>
          <p:cNvPr id="16" name="Arrow: Down 15">
            <a:extLst>
              <a:ext uri="{FF2B5EF4-FFF2-40B4-BE49-F238E27FC236}">
                <a16:creationId xmlns:a16="http://schemas.microsoft.com/office/drawing/2014/main" id="{C44714C6-4A70-52FD-3795-8272F078334E}"/>
              </a:ext>
            </a:extLst>
          </p:cNvPr>
          <p:cNvSpPr/>
          <p:nvPr/>
        </p:nvSpPr>
        <p:spPr>
          <a:xfrm flipH="1">
            <a:off x="2510018" y="2212857"/>
            <a:ext cx="45719" cy="38825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Arrow: Down 17">
            <a:extLst>
              <a:ext uri="{FF2B5EF4-FFF2-40B4-BE49-F238E27FC236}">
                <a16:creationId xmlns:a16="http://schemas.microsoft.com/office/drawing/2014/main" id="{5B4C491F-3E6D-4E95-995D-F2788012F261}"/>
              </a:ext>
            </a:extLst>
          </p:cNvPr>
          <p:cNvSpPr/>
          <p:nvPr/>
        </p:nvSpPr>
        <p:spPr>
          <a:xfrm>
            <a:off x="2543263" y="3294766"/>
            <a:ext cx="45719" cy="37011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Arrow: Down 19">
            <a:extLst>
              <a:ext uri="{FF2B5EF4-FFF2-40B4-BE49-F238E27FC236}">
                <a16:creationId xmlns:a16="http://schemas.microsoft.com/office/drawing/2014/main" id="{E1AE2C46-8813-51E7-888C-98D45ABBC6B4}"/>
              </a:ext>
            </a:extLst>
          </p:cNvPr>
          <p:cNvSpPr/>
          <p:nvPr/>
        </p:nvSpPr>
        <p:spPr>
          <a:xfrm>
            <a:off x="2543263" y="4371306"/>
            <a:ext cx="45719" cy="42929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rrow: Down 21">
            <a:extLst>
              <a:ext uri="{FF2B5EF4-FFF2-40B4-BE49-F238E27FC236}">
                <a16:creationId xmlns:a16="http://schemas.microsoft.com/office/drawing/2014/main" id="{5B381A22-CE89-E127-B5E2-58202372C35E}"/>
              </a:ext>
            </a:extLst>
          </p:cNvPr>
          <p:cNvSpPr/>
          <p:nvPr/>
        </p:nvSpPr>
        <p:spPr>
          <a:xfrm>
            <a:off x="2524585" y="5421108"/>
            <a:ext cx="47895" cy="39914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Rectangle: Diagonal Corners Rounded 52">
            <a:extLst>
              <a:ext uri="{FF2B5EF4-FFF2-40B4-BE49-F238E27FC236}">
                <a16:creationId xmlns:a16="http://schemas.microsoft.com/office/drawing/2014/main" id="{DD5CD4D6-1ACA-AC75-30B7-18E14C0F6146}"/>
              </a:ext>
            </a:extLst>
          </p:cNvPr>
          <p:cNvSpPr/>
          <p:nvPr/>
        </p:nvSpPr>
        <p:spPr>
          <a:xfrm>
            <a:off x="5786122" y="1596571"/>
            <a:ext cx="5569859" cy="638629"/>
          </a:xfrm>
          <a:prstGeom prst="round2Diag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GB" sz="1600" b="1" dirty="0"/>
              <a:t>Data Collection and web </a:t>
            </a:r>
            <a:r>
              <a:rPr lang="en-GB" sz="1600" b="1" dirty="0" err="1"/>
              <a:t>srapping</a:t>
            </a:r>
            <a:r>
              <a:rPr lang="en-GB" sz="1600" b="1" dirty="0"/>
              <a:t> done Flipkart Website</a:t>
            </a:r>
            <a:endParaRPr lang="en-IN" sz="1600" b="1" dirty="0"/>
          </a:p>
        </p:txBody>
      </p:sp>
      <p:sp>
        <p:nvSpPr>
          <p:cNvPr id="54" name="Rectangle: Diagonal Corners Rounded 53">
            <a:extLst>
              <a:ext uri="{FF2B5EF4-FFF2-40B4-BE49-F238E27FC236}">
                <a16:creationId xmlns:a16="http://schemas.microsoft.com/office/drawing/2014/main" id="{4D9CA90A-AF31-C109-6DDA-17AADE6DE7F5}"/>
              </a:ext>
            </a:extLst>
          </p:cNvPr>
          <p:cNvSpPr/>
          <p:nvPr/>
        </p:nvSpPr>
        <p:spPr>
          <a:xfrm>
            <a:off x="5743301" y="2663371"/>
            <a:ext cx="5612679" cy="928911"/>
          </a:xfrm>
          <a:prstGeom prst="round2Diag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GB" sz="1600" b="1" dirty="0"/>
              <a:t>Cleaning the data using regular expression while data extraction  &amp; missing value handled, duplicate </a:t>
            </a:r>
            <a:r>
              <a:rPr lang="en-GB" sz="1600" b="1" dirty="0" err="1"/>
              <a:t>val</a:t>
            </a:r>
            <a:r>
              <a:rPr lang="en-GB" sz="1600" b="1" dirty="0"/>
              <a:t> by using Pandas lib</a:t>
            </a:r>
            <a:endParaRPr lang="en-IN" sz="1600" b="1" dirty="0"/>
          </a:p>
        </p:txBody>
      </p:sp>
      <p:sp>
        <p:nvSpPr>
          <p:cNvPr id="55" name="Rectangle: Diagonal Corners Rounded 54">
            <a:extLst>
              <a:ext uri="{FF2B5EF4-FFF2-40B4-BE49-F238E27FC236}">
                <a16:creationId xmlns:a16="http://schemas.microsoft.com/office/drawing/2014/main" id="{C27D93A3-C081-8508-46E8-D19F8A52EB0E}"/>
              </a:ext>
            </a:extLst>
          </p:cNvPr>
          <p:cNvSpPr/>
          <p:nvPr/>
        </p:nvSpPr>
        <p:spPr>
          <a:xfrm>
            <a:off x="5743302" y="3853573"/>
            <a:ext cx="5612678" cy="482591"/>
          </a:xfrm>
          <a:prstGeom prst="round2Diag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GB" sz="1600" b="1" dirty="0"/>
              <a:t>Created new Analytical features</a:t>
            </a:r>
            <a:endParaRPr lang="en-IN" sz="1600" b="1" dirty="0"/>
          </a:p>
        </p:txBody>
      </p:sp>
      <p:sp>
        <p:nvSpPr>
          <p:cNvPr id="57" name="Rectangle: Diagonal Corners Rounded 56">
            <a:extLst>
              <a:ext uri="{FF2B5EF4-FFF2-40B4-BE49-F238E27FC236}">
                <a16:creationId xmlns:a16="http://schemas.microsoft.com/office/drawing/2014/main" id="{50F9259F-D909-D6A1-F99E-D6EBFE3C72CF}"/>
              </a:ext>
            </a:extLst>
          </p:cNvPr>
          <p:cNvSpPr/>
          <p:nvPr/>
        </p:nvSpPr>
        <p:spPr>
          <a:xfrm>
            <a:off x="5763259" y="4844163"/>
            <a:ext cx="5592721" cy="558801"/>
          </a:xfrm>
          <a:prstGeom prst="round2Diag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IN" sz="1600" b="1" dirty="0"/>
              <a:t>Visualize price trends, brand popularity, ratings, RAM, SSD, and processor distribution.</a:t>
            </a:r>
          </a:p>
        </p:txBody>
      </p:sp>
      <p:sp>
        <p:nvSpPr>
          <p:cNvPr id="58" name="Rectangle: Diagonal Corners Rounded 57">
            <a:extLst>
              <a:ext uri="{FF2B5EF4-FFF2-40B4-BE49-F238E27FC236}">
                <a16:creationId xmlns:a16="http://schemas.microsoft.com/office/drawing/2014/main" id="{2DDCDB1D-D02D-C6DB-D0D7-85E5F03D042F}"/>
              </a:ext>
            </a:extLst>
          </p:cNvPr>
          <p:cNvSpPr/>
          <p:nvPr/>
        </p:nvSpPr>
        <p:spPr>
          <a:xfrm>
            <a:off x="5763259" y="5736796"/>
            <a:ext cx="5612679" cy="482591"/>
          </a:xfrm>
          <a:prstGeom prst="round2Diag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IN" sz="1600" b="1" dirty="0"/>
              <a:t>Generate business insights to support customer and business decision-making</a:t>
            </a:r>
            <a:r>
              <a:rPr lang="en-IN" dirty="0"/>
              <a:t>.</a:t>
            </a:r>
          </a:p>
        </p:txBody>
      </p:sp>
    </p:spTree>
    <p:extLst>
      <p:ext uri="{BB962C8B-B14F-4D97-AF65-F5344CB8AC3E}">
        <p14:creationId xmlns:p14="http://schemas.microsoft.com/office/powerpoint/2010/main" val="2426998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5AB5A05-D22E-6345-0CF6-B1025B596F6A}"/>
              </a:ext>
            </a:extLst>
          </p:cNvPr>
          <p:cNvSpPr>
            <a:spLocks noGrp="1"/>
          </p:cNvSpPr>
          <p:nvPr>
            <p:ph type="title"/>
          </p:nvPr>
        </p:nvSpPr>
        <p:spPr/>
        <p:style>
          <a:lnRef idx="1">
            <a:schemeClr val="accent2"/>
          </a:lnRef>
          <a:fillRef idx="2">
            <a:schemeClr val="accent2"/>
          </a:fillRef>
          <a:effectRef idx="1">
            <a:schemeClr val="accent2"/>
          </a:effectRef>
          <a:fontRef idx="minor">
            <a:schemeClr val="dk1"/>
          </a:fontRef>
        </p:style>
        <p:txBody>
          <a:bodyPr/>
          <a:lstStyle/>
          <a:p>
            <a:r>
              <a:rPr lang="en-IN" dirty="0"/>
              <a:t>🌐 </a:t>
            </a:r>
            <a:r>
              <a:rPr lang="en-IN" sz="2800" b="1" dirty="0"/>
              <a:t>Website Selection &amp; Data Source</a:t>
            </a:r>
            <a:br>
              <a:rPr lang="en-IN" b="1" dirty="0"/>
            </a:br>
            <a:endParaRPr lang="en-IN" dirty="0"/>
          </a:p>
        </p:txBody>
      </p:sp>
      <p:sp>
        <p:nvSpPr>
          <p:cNvPr id="10" name="Text Placeholder 9">
            <a:extLst>
              <a:ext uri="{FF2B5EF4-FFF2-40B4-BE49-F238E27FC236}">
                <a16:creationId xmlns:a16="http://schemas.microsoft.com/office/drawing/2014/main" id="{70F8DCB7-F8A8-9FE0-DB2A-A3067019A37B}"/>
              </a:ext>
            </a:extLst>
          </p:cNvPr>
          <p:cNvSpPr>
            <a:spLocks noGrp="1"/>
          </p:cNvSpPr>
          <p:nvPr>
            <p:ph type="body" idx="1"/>
          </p:nvPr>
        </p:nvSpPr>
        <p:spPr>
          <a:solidFill>
            <a:schemeClr val="bg1">
              <a:lumMod val="95000"/>
            </a:schemeClr>
          </a:solidFill>
          <a:ln>
            <a:solidFill>
              <a:schemeClr val="accent4">
                <a:lumMod val="20000"/>
                <a:lumOff val="80000"/>
              </a:schemeClr>
            </a:solidFill>
          </a:ln>
        </p:spPr>
        <p:style>
          <a:lnRef idx="1">
            <a:schemeClr val="accent4"/>
          </a:lnRef>
          <a:fillRef idx="3">
            <a:schemeClr val="accent4"/>
          </a:fillRef>
          <a:effectRef idx="2">
            <a:schemeClr val="accent4"/>
          </a:effectRef>
          <a:fontRef idx="minor">
            <a:schemeClr val="lt1"/>
          </a:fontRef>
        </p:style>
        <p:txBody>
          <a:bodyPr>
            <a:normAutofit/>
          </a:bodyPr>
          <a:lstStyle/>
          <a:p>
            <a:r>
              <a:rPr lang="en-IN" sz="2400" b="1" dirty="0"/>
              <a:t>Website Selected</a:t>
            </a:r>
          </a:p>
          <a:p>
            <a:endParaRPr lang="en-IN" b="1" dirty="0"/>
          </a:p>
          <a:p>
            <a:pPr marL="114300" indent="0">
              <a:buNone/>
            </a:pPr>
            <a:r>
              <a:rPr lang="en-IN" sz="1900" dirty="0"/>
              <a:t>🛒 </a:t>
            </a:r>
            <a:r>
              <a:rPr lang="en-IN" sz="1900" b="1" dirty="0"/>
              <a:t>Flipkart</a:t>
            </a:r>
            <a:r>
              <a:rPr lang="en-IN" sz="1900" dirty="0"/>
              <a:t> (E-commerce Platform).</a:t>
            </a:r>
          </a:p>
          <a:p>
            <a:r>
              <a:rPr lang="en-IN" sz="1900" dirty="0"/>
              <a:t>One of India's largest online marketplaces. </a:t>
            </a:r>
          </a:p>
          <a:p>
            <a:r>
              <a:rPr lang="en-IN" sz="1900" dirty="0"/>
              <a:t>Offers a wide variety of laptop brands and models. </a:t>
            </a:r>
          </a:p>
          <a:p>
            <a:r>
              <a:rPr lang="en-IN" sz="1900" dirty="0"/>
              <a:t>Provides detailed product specifications. </a:t>
            </a:r>
          </a:p>
          <a:p>
            <a:r>
              <a:rPr lang="en-IN" sz="1900" dirty="0"/>
              <a:t>Displays prices, discounts, ratings, and customer reviews. </a:t>
            </a:r>
          </a:p>
          <a:p>
            <a:r>
              <a:rPr lang="en-IN" sz="1900" dirty="0"/>
              <a:t>Frequently updated product listings</a:t>
            </a:r>
            <a:r>
              <a:rPr lang="en-IN" dirty="0"/>
              <a:t>.</a:t>
            </a:r>
          </a:p>
          <a:p>
            <a:endParaRPr lang="en-IN" dirty="0"/>
          </a:p>
        </p:txBody>
      </p:sp>
      <p:sp>
        <p:nvSpPr>
          <p:cNvPr id="11" name="Text Placeholder 10">
            <a:extLst>
              <a:ext uri="{FF2B5EF4-FFF2-40B4-BE49-F238E27FC236}">
                <a16:creationId xmlns:a16="http://schemas.microsoft.com/office/drawing/2014/main" id="{287C7360-7F2E-95DD-C5BD-B40B64518D7B}"/>
              </a:ext>
            </a:extLst>
          </p:cNvPr>
          <p:cNvSpPr>
            <a:spLocks noGrp="1"/>
          </p:cNvSpPr>
          <p:nvPr>
            <p:ph type="body" idx="2"/>
          </p:nvPr>
        </p:nvSpPr>
        <p:spPr>
          <a:solidFill>
            <a:schemeClr val="bg1">
              <a:lumMod val="95000"/>
            </a:schemeClr>
          </a:solidFill>
          <a:ln>
            <a:solidFill>
              <a:srgbClr val="FAED48"/>
            </a:solidFill>
          </a:ln>
        </p:spPr>
        <p:style>
          <a:lnRef idx="1">
            <a:schemeClr val="accent4"/>
          </a:lnRef>
          <a:fillRef idx="3">
            <a:schemeClr val="accent4"/>
          </a:fillRef>
          <a:effectRef idx="2">
            <a:schemeClr val="accent4"/>
          </a:effectRef>
          <a:fontRef idx="minor">
            <a:schemeClr val="lt1"/>
          </a:fontRef>
        </p:style>
        <p:txBody>
          <a:bodyPr/>
          <a:lstStyle/>
          <a:p>
            <a:r>
              <a:rPr lang="en-IN" sz="2400" b="1" dirty="0"/>
              <a:t>Data Source</a:t>
            </a:r>
          </a:p>
          <a:p>
            <a:pPr marL="114300" indent="0">
              <a:buNone/>
            </a:pPr>
            <a:endParaRPr lang="en-IN" b="1" dirty="0"/>
          </a:p>
          <a:p>
            <a:r>
              <a:rPr lang="en-IN" sz="1800" dirty="0"/>
              <a:t>The laptop dataset was collected from </a:t>
            </a:r>
            <a:r>
              <a:rPr lang="en-IN" sz="1800" b="1" dirty="0"/>
              <a:t>Flipkart</a:t>
            </a:r>
            <a:r>
              <a:rPr lang="en-IN" sz="1800" dirty="0"/>
              <a:t> using </a:t>
            </a:r>
            <a:r>
              <a:rPr lang="en-IN" sz="1800" b="1" dirty="0"/>
              <a:t>Python Web Scraping</a:t>
            </a:r>
            <a:r>
              <a:rPr lang="en-IN" sz="1800" dirty="0"/>
              <a:t>.</a:t>
            </a:r>
          </a:p>
          <a:p>
            <a:pPr marL="114300" indent="0">
              <a:buNone/>
            </a:pPr>
            <a:endParaRPr lang="en-IN" dirty="0"/>
          </a:p>
        </p:txBody>
      </p:sp>
      <p:graphicFrame>
        <p:nvGraphicFramePr>
          <p:cNvPr id="23" name="Table 22">
            <a:extLst>
              <a:ext uri="{FF2B5EF4-FFF2-40B4-BE49-F238E27FC236}">
                <a16:creationId xmlns:a16="http://schemas.microsoft.com/office/drawing/2014/main" id="{EF1B48C6-73B1-7352-8BC7-BE6C686704BC}"/>
              </a:ext>
            </a:extLst>
          </p:cNvPr>
          <p:cNvGraphicFramePr>
            <a:graphicFrameLocks noGrp="1"/>
          </p:cNvGraphicFramePr>
          <p:nvPr>
            <p:extLst>
              <p:ext uri="{D42A27DB-BD31-4B8C-83A1-F6EECF244321}">
                <p14:modId xmlns:p14="http://schemas.microsoft.com/office/powerpoint/2010/main" val="2490761585"/>
              </p:ext>
            </p:extLst>
          </p:nvPr>
        </p:nvGraphicFramePr>
        <p:xfrm>
          <a:off x="6172200" y="3866260"/>
          <a:ext cx="5181600" cy="2266264"/>
        </p:xfrm>
        <a:graphic>
          <a:graphicData uri="http://schemas.openxmlformats.org/drawingml/2006/table">
            <a:tbl>
              <a:tblPr firstRow="1" bandRow="1">
                <a:tableStyleId>{93296810-A885-4BE3-A3E7-6D5BEEA58F35}</a:tableStyleId>
              </a:tblPr>
              <a:tblGrid>
                <a:gridCol w="2590800">
                  <a:extLst>
                    <a:ext uri="{9D8B030D-6E8A-4147-A177-3AD203B41FA5}">
                      <a16:colId xmlns:a16="http://schemas.microsoft.com/office/drawing/2014/main" val="3841735419"/>
                    </a:ext>
                  </a:extLst>
                </a:gridCol>
                <a:gridCol w="2590800">
                  <a:extLst>
                    <a:ext uri="{9D8B030D-6E8A-4147-A177-3AD203B41FA5}">
                      <a16:colId xmlns:a16="http://schemas.microsoft.com/office/drawing/2014/main" val="1978410764"/>
                    </a:ext>
                  </a:extLst>
                </a:gridCol>
              </a:tblGrid>
              <a:tr h="342744">
                <a:tc>
                  <a:txBody>
                    <a:bodyPr/>
                    <a:lstStyle/>
                    <a:p>
                      <a:r>
                        <a:rPr lang="en-GB" sz="1800" dirty="0" err="1"/>
                        <a:t>Soure</a:t>
                      </a:r>
                      <a:r>
                        <a:rPr lang="en-GB" sz="1800" dirty="0"/>
                        <a:t> </a:t>
                      </a:r>
                      <a:endParaRPr lang="en-IN" sz="1800" dirty="0"/>
                    </a:p>
                  </a:txBody>
                  <a:tcPr/>
                </a:tc>
                <a:tc>
                  <a:txBody>
                    <a:bodyPr/>
                    <a:lstStyle/>
                    <a:p>
                      <a:r>
                        <a:rPr lang="en-GB" sz="1800" b="0" dirty="0"/>
                        <a:t>Flipkart</a:t>
                      </a:r>
                      <a:endParaRPr lang="en-IN" sz="1800" b="0" dirty="0"/>
                    </a:p>
                  </a:txBody>
                  <a:tcPr/>
                </a:tc>
                <a:extLst>
                  <a:ext uri="{0D108BD9-81ED-4DB2-BD59-A6C34878D82A}">
                    <a16:rowId xmlns:a16="http://schemas.microsoft.com/office/drawing/2014/main" val="2029556222"/>
                  </a:ext>
                </a:extLst>
              </a:tr>
              <a:tr h="483496">
                <a:tc>
                  <a:txBody>
                    <a:bodyPr/>
                    <a:lstStyle/>
                    <a:p>
                      <a:r>
                        <a:rPr lang="en-GB" dirty="0"/>
                        <a:t>Data Types</a:t>
                      </a:r>
                      <a:endParaRPr lang="en-IN" dirty="0"/>
                    </a:p>
                  </a:txBody>
                  <a:tcPr/>
                </a:tc>
                <a:tc>
                  <a:txBody>
                    <a:bodyPr/>
                    <a:lstStyle/>
                    <a:p>
                      <a:r>
                        <a:rPr lang="en-GB" dirty="0"/>
                        <a:t>Laptop data listing</a:t>
                      </a:r>
                      <a:endParaRPr lang="en-IN" dirty="0"/>
                    </a:p>
                  </a:txBody>
                  <a:tcPr/>
                </a:tc>
                <a:extLst>
                  <a:ext uri="{0D108BD9-81ED-4DB2-BD59-A6C34878D82A}">
                    <a16:rowId xmlns:a16="http://schemas.microsoft.com/office/drawing/2014/main" val="3991548034"/>
                  </a:ext>
                </a:extLst>
              </a:tr>
              <a:tr h="342744">
                <a:tc>
                  <a:txBody>
                    <a:bodyPr/>
                    <a:lstStyle/>
                    <a:p>
                      <a:r>
                        <a:rPr lang="en-GB" dirty="0" err="1"/>
                        <a:t>Colletion</a:t>
                      </a:r>
                      <a:r>
                        <a:rPr lang="en-GB" dirty="0"/>
                        <a:t> Method </a:t>
                      </a:r>
                      <a:endParaRPr lang="en-IN" dirty="0"/>
                    </a:p>
                  </a:txBody>
                  <a:tcPr/>
                </a:tc>
                <a:tc>
                  <a:txBody>
                    <a:bodyPr/>
                    <a:lstStyle/>
                    <a:p>
                      <a:r>
                        <a:rPr lang="en-GB" dirty="0"/>
                        <a:t>Web Scraping using python</a:t>
                      </a:r>
                      <a:endParaRPr lang="en-IN" dirty="0"/>
                    </a:p>
                  </a:txBody>
                  <a:tcPr/>
                </a:tc>
                <a:extLst>
                  <a:ext uri="{0D108BD9-81ED-4DB2-BD59-A6C34878D82A}">
                    <a16:rowId xmlns:a16="http://schemas.microsoft.com/office/drawing/2014/main" val="1150676735"/>
                  </a:ext>
                </a:extLst>
              </a:tr>
              <a:tr h="342744">
                <a:tc>
                  <a:txBody>
                    <a:bodyPr/>
                    <a:lstStyle/>
                    <a:p>
                      <a:r>
                        <a:rPr lang="en-GB" dirty="0"/>
                        <a:t>Page scraped</a:t>
                      </a:r>
                      <a:endParaRPr lang="en-IN" dirty="0"/>
                    </a:p>
                  </a:txBody>
                  <a:tcPr/>
                </a:tc>
                <a:tc>
                  <a:txBody>
                    <a:bodyPr/>
                    <a:lstStyle/>
                    <a:p>
                      <a:r>
                        <a:rPr lang="en-GB" dirty="0"/>
                        <a:t>10</a:t>
                      </a:r>
                      <a:endParaRPr lang="en-IN" dirty="0"/>
                    </a:p>
                  </a:txBody>
                  <a:tcPr/>
                </a:tc>
                <a:extLst>
                  <a:ext uri="{0D108BD9-81ED-4DB2-BD59-A6C34878D82A}">
                    <a16:rowId xmlns:a16="http://schemas.microsoft.com/office/drawing/2014/main" val="3870791392"/>
                  </a:ext>
                </a:extLst>
              </a:tr>
              <a:tr h="659955">
                <a:tc>
                  <a:txBody>
                    <a:bodyPr/>
                    <a:lstStyle/>
                    <a:p>
                      <a:r>
                        <a:rPr lang="en-GB" dirty="0"/>
                        <a:t>Initial records collected</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b="0" i="0" u="none" strike="noStrike" cap="none" dirty="0">
                          <a:solidFill>
                            <a:schemeClr val="dk1"/>
                          </a:solidFill>
                          <a:effectLst/>
                          <a:latin typeface="+mn-lt"/>
                          <a:ea typeface="+mn-ea"/>
                          <a:cs typeface="+mn-cs"/>
                          <a:sym typeface="Arial"/>
                        </a:rPr>
                        <a:t>( total 1578</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b="0" i="0" u="none" strike="noStrike" cap="none" dirty="0">
                          <a:solidFill>
                            <a:schemeClr val="dk1"/>
                          </a:solidFill>
                          <a:effectLst/>
                          <a:latin typeface="+mn-lt"/>
                          <a:ea typeface="+mn-ea"/>
                          <a:cs typeface="+mn-cs"/>
                          <a:sym typeface="Arial"/>
                        </a:rPr>
                        <a:t>rows after cleaning 932</a:t>
                      </a:r>
                      <a:r>
                        <a:rPr lang="en-IN" sz="1400" b="0" i="0" u="none" strike="noStrike" cap="none">
                          <a:solidFill>
                            <a:schemeClr val="dk1"/>
                          </a:solidFill>
                          <a:effectLst/>
                          <a:latin typeface="+mn-lt"/>
                          <a:ea typeface="+mn-ea"/>
                          <a:cs typeface="+mn-cs"/>
                          <a:sym typeface="Arial"/>
                        </a:rPr>
                        <a:t>, 13)</a:t>
                      </a:r>
                      <a:endParaRPr lang="en-IN" sz="1400" b="0" i="0" u="none" strike="noStrike" cap="none" dirty="0">
                        <a:solidFill>
                          <a:schemeClr val="dk1"/>
                        </a:solidFill>
                        <a:effectLst/>
                        <a:latin typeface="+mn-lt"/>
                        <a:ea typeface="+mn-ea"/>
                        <a:cs typeface="+mn-cs"/>
                        <a:sym typeface="Arial"/>
                      </a:endParaRPr>
                    </a:p>
                    <a:p>
                      <a:endParaRPr lang="en-IN" dirty="0"/>
                    </a:p>
                  </a:txBody>
                  <a:tcPr/>
                </a:tc>
                <a:extLst>
                  <a:ext uri="{0D108BD9-81ED-4DB2-BD59-A6C34878D82A}">
                    <a16:rowId xmlns:a16="http://schemas.microsoft.com/office/drawing/2014/main" val="3344943509"/>
                  </a:ext>
                </a:extLst>
              </a:tr>
            </a:tbl>
          </a:graphicData>
        </a:graphic>
      </p:graphicFrame>
    </p:spTree>
    <p:extLst>
      <p:ext uri="{BB962C8B-B14F-4D97-AF65-F5344CB8AC3E}">
        <p14:creationId xmlns:p14="http://schemas.microsoft.com/office/powerpoint/2010/main" val="3196576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62B7E88-CD50-EB38-CE78-4AB8A44A0E05}"/>
              </a:ext>
            </a:extLst>
          </p:cNvPr>
          <p:cNvSpPr>
            <a:spLocks noGrp="1"/>
          </p:cNvSpPr>
          <p:nvPr>
            <p:ph type="title"/>
          </p:nvPr>
        </p:nvSpPr>
        <p:spPr>
          <a:xfrm>
            <a:off x="838200" y="198224"/>
            <a:ext cx="10653500" cy="571954"/>
          </a:xfrm>
          <a:solidFill>
            <a:schemeClr val="bg1">
              <a:lumMod val="95000"/>
            </a:schemeClr>
          </a:solidFill>
        </p:spPr>
        <p:txBody>
          <a:bodyPr>
            <a:normAutofit fontScale="90000"/>
          </a:bodyPr>
          <a:lstStyle/>
          <a:p>
            <a:pPr algn="ctr"/>
            <a:br>
              <a:rPr lang="en-IN" sz="2800" b="1" dirty="0"/>
            </a:br>
            <a:r>
              <a:rPr lang="en-IN" sz="2800" b="1" dirty="0"/>
              <a:t>Web Scraping Methodology</a:t>
            </a:r>
            <a:br>
              <a:rPr lang="en-IN" b="1" dirty="0"/>
            </a:br>
            <a:endParaRPr lang="en-IN" dirty="0"/>
          </a:p>
        </p:txBody>
      </p:sp>
      <p:sp>
        <p:nvSpPr>
          <p:cNvPr id="12" name="Rectangle: Rounded Corners 11">
            <a:extLst>
              <a:ext uri="{FF2B5EF4-FFF2-40B4-BE49-F238E27FC236}">
                <a16:creationId xmlns:a16="http://schemas.microsoft.com/office/drawing/2014/main" id="{A102E855-DBD5-770A-2C8B-7BD8DE23B2D5}"/>
              </a:ext>
            </a:extLst>
          </p:cNvPr>
          <p:cNvSpPr/>
          <p:nvPr/>
        </p:nvSpPr>
        <p:spPr>
          <a:xfrm>
            <a:off x="1233712" y="948427"/>
            <a:ext cx="3149602" cy="471247"/>
          </a:xfrm>
          <a:prstGeom prst="roundRect">
            <a:avLst/>
          </a:prstGeom>
          <a:solidFill>
            <a:schemeClr val="bg1"/>
          </a:solidFill>
          <a:ln>
            <a:solidFill>
              <a:srgbClr val="FF0000"/>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dk1"/>
          </a:lnRef>
          <a:fillRef idx="3">
            <a:schemeClr val="dk1"/>
          </a:fillRef>
          <a:effectRef idx="3">
            <a:schemeClr val="dk1"/>
          </a:effectRef>
          <a:fontRef idx="minor">
            <a:schemeClr val="lt1"/>
          </a:fontRef>
        </p:style>
        <p:txBody>
          <a:bodyPr rtlCol="0" anchor="ctr"/>
          <a:lstStyle/>
          <a:p>
            <a:pPr algn="ctr"/>
            <a:r>
              <a:rPr lang="en-IN" sz="1600" b="1" dirty="0">
                <a:highlight>
                  <a:srgbClr val="008000"/>
                </a:highlight>
              </a:rPr>
              <a:t>🌐 Flipkart Website</a:t>
            </a:r>
          </a:p>
        </p:txBody>
      </p:sp>
      <p:sp>
        <p:nvSpPr>
          <p:cNvPr id="13" name="Rectangle: Rounded Corners 12">
            <a:extLst>
              <a:ext uri="{FF2B5EF4-FFF2-40B4-BE49-F238E27FC236}">
                <a16:creationId xmlns:a16="http://schemas.microsoft.com/office/drawing/2014/main" id="{403A8ADD-6201-A8DB-FE46-F5A2942E7B4B}"/>
              </a:ext>
            </a:extLst>
          </p:cNvPr>
          <p:cNvSpPr/>
          <p:nvPr/>
        </p:nvSpPr>
        <p:spPr>
          <a:xfrm>
            <a:off x="1233712" y="1734007"/>
            <a:ext cx="3149602" cy="473525"/>
          </a:xfrm>
          <a:prstGeom prst="roundRect">
            <a:avLst/>
          </a:prstGeom>
          <a:solidFill>
            <a:schemeClr val="bg1"/>
          </a:solidFill>
          <a:ln>
            <a:solidFill>
              <a:srgbClr val="FF000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1"/>
          </a:lnRef>
          <a:fillRef idx="3">
            <a:schemeClr val="accent1"/>
          </a:fillRef>
          <a:effectRef idx="3">
            <a:schemeClr val="accent1"/>
          </a:effectRef>
          <a:fontRef idx="minor">
            <a:schemeClr val="lt1"/>
          </a:fontRef>
        </p:style>
        <p:txBody>
          <a:bodyPr rtlCol="0" anchor="ctr"/>
          <a:lstStyle/>
          <a:p>
            <a:pPr algn="ctr"/>
            <a:r>
              <a:rPr lang="en-IN" dirty="0">
                <a:highlight>
                  <a:srgbClr val="008000"/>
                </a:highlight>
              </a:rPr>
              <a:t>🔍 </a:t>
            </a:r>
            <a:r>
              <a:rPr lang="en-IN" sz="1600" dirty="0">
                <a:highlight>
                  <a:srgbClr val="008000"/>
                </a:highlight>
              </a:rPr>
              <a:t>HTML Inspection</a:t>
            </a:r>
            <a:endParaRPr lang="en-IN" sz="1600" b="1" dirty="0">
              <a:ln w="22225">
                <a:solidFill>
                  <a:schemeClr val="accent2"/>
                </a:solidFill>
                <a:prstDash val="solid"/>
              </a:ln>
              <a:solidFill>
                <a:schemeClr val="accent2">
                  <a:lumMod val="40000"/>
                  <a:lumOff val="60000"/>
                </a:schemeClr>
              </a:solidFill>
              <a:highlight>
                <a:srgbClr val="008000"/>
              </a:highlight>
            </a:endParaRPr>
          </a:p>
        </p:txBody>
      </p:sp>
      <p:sp>
        <p:nvSpPr>
          <p:cNvPr id="14" name="Rectangle: Rounded Corners 13">
            <a:extLst>
              <a:ext uri="{FF2B5EF4-FFF2-40B4-BE49-F238E27FC236}">
                <a16:creationId xmlns:a16="http://schemas.microsoft.com/office/drawing/2014/main" id="{824E5B29-15E6-4C7F-4414-7AC2EEE0EAFE}"/>
              </a:ext>
            </a:extLst>
          </p:cNvPr>
          <p:cNvSpPr/>
          <p:nvPr/>
        </p:nvSpPr>
        <p:spPr>
          <a:xfrm>
            <a:off x="1233712" y="2519585"/>
            <a:ext cx="3149600" cy="473526"/>
          </a:xfrm>
          <a:prstGeom prst="roundRect">
            <a:avLst/>
          </a:prstGeom>
          <a:solidFill>
            <a:schemeClr val="bg1"/>
          </a:solidFill>
          <a:ln>
            <a:solidFill>
              <a:srgbClr val="FF000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2"/>
          </a:lnRef>
          <a:fillRef idx="3">
            <a:schemeClr val="accent2"/>
          </a:fillRef>
          <a:effectRef idx="3">
            <a:schemeClr val="accent2"/>
          </a:effectRef>
          <a:fontRef idx="minor">
            <a:schemeClr val="lt1"/>
          </a:fontRef>
        </p:style>
        <p:txBody>
          <a:bodyPr rtlCol="0" anchor="ctr"/>
          <a:lstStyle/>
          <a:p>
            <a:pPr algn="ctr"/>
            <a:r>
              <a:rPr lang="en-IN" sz="1600" b="1" dirty="0">
                <a:highlight>
                  <a:srgbClr val="008000"/>
                </a:highlight>
              </a:rPr>
              <a:t>🐍 Requests + </a:t>
            </a:r>
            <a:r>
              <a:rPr lang="en-IN" sz="1600" b="1" dirty="0" err="1">
                <a:highlight>
                  <a:srgbClr val="008000"/>
                </a:highlight>
              </a:rPr>
              <a:t>BeautifulSoup</a:t>
            </a:r>
            <a:endParaRPr lang="en-IN" sz="1600" b="1" dirty="0">
              <a:highlight>
                <a:srgbClr val="008000"/>
              </a:highlight>
            </a:endParaRPr>
          </a:p>
        </p:txBody>
      </p:sp>
      <p:sp>
        <p:nvSpPr>
          <p:cNvPr id="15" name="Rectangle: Rounded Corners 14">
            <a:extLst>
              <a:ext uri="{FF2B5EF4-FFF2-40B4-BE49-F238E27FC236}">
                <a16:creationId xmlns:a16="http://schemas.microsoft.com/office/drawing/2014/main" id="{55131489-901F-B5AA-44CC-1A612CD2B53F}"/>
              </a:ext>
            </a:extLst>
          </p:cNvPr>
          <p:cNvSpPr/>
          <p:nvPr/>
        </p:nvSpPr>
        <p:spPr>
          <a:xfrm>
            <a:off x="1233712" y="3305164"/>
            <a:ext cx="3149600" cy="511178"/>
          </a:xfrm>
          <a:prstGeom prst="roundRect">
            <a:avLst/>
          </a:prstGeom>
          <a:solidFill>
            <a:schemeClr val="bg1"/>
          </a:solidFill>
          <a:ln>
            <a:solidFill>
              <a:srgbClr val="FF000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4"/>
          </a:lnRef>
          <a:fillRef idx="3">
            <a:schemeClr val="accent4"/>
          </a:fillRef>
          <a:effectRef idx="3">
            <a:schemeClr val="accent4"/>
          </a:effectRef>
          <a:fontRef idx="minor">
            <a:schemeClr val="lt1"/>
          </a:fontRef>
        </p:style>
        <p:txBody>
          <a:bodyPr rtlCol="0" anchor="ctr"/>
          <a:lstStyle/>
          <a:p>
            <a:pPr algn="ctr"/>
            <a:r>
              <a:rPr lang="en-IN" sz="1600" b="1" dirty="0">
                <a:highlight>
                  <a:srgbClr val="008000"/>
                </a:highlight>
              </a:rPr>
              <a:t>📥 Data Extraction</a:t>
            </a:r>
          </a:p>
        </p:txBody>
      </p:sp>
      <p:sp>
        <p:nvSpPr>
          <p:cNvPr id="16" name="Rectangle: Rounded Corners 15">
            <a:extLst>
              <a:ext uri="{FF2B5EF4-FFF2-40B4-BE49-F238E27FC236}">
                <a16:creationId xmlns:a16="http://schemas.microsoft.com/office/drawing/2014/main" id="{DF0060FA-7803-E318-D02E-F5D1FA37386C}"/>
              </a:ext>
            </a:extLst>
          </p:cNvPr>
          <p:cNvSpPr/>
          <p:nvPr/>
        </p:nvSpPr>
        <p:spPr>
          <a:xfrm>
            <a:off x="1233714" y="4055370"/>
            <a:ext cx="3149600" cy="511178"/>
          </a:xfrm>
          <a:prstGeom prst="roundRect">
            <a:avLst/>
          </a:prstGeom>
          <a:solidFill>
            <a:schemeClr val="bg1"/>
          </a:solidFill>
          <a:ln>
            <a:solidFill>
              <a:srgbClr val="FF0000"/>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6"/>
          </a:lnRef>
          <a:fillRef idx="3">
            <a:schemeClr val="accent6"/>
          </a:fillRef>
          <a:effectRef idx="3">
            <a:schemeClr val="accent6"/>
          </a:effectRef>
          <a:fontRef idx="minor">
            <a:schemeClr val="lt1"/>
          </a:fontRef>
        </p:style>
        <p:txBody>
          <a:bodyPr rtlCol="0" anchor="ctr"/>
          <a:lstStyle/>
          <a:p>
            <a:pPr algn="ctr"/>
            <a:r>
              <a:rPr lang="en-IN" dirty="0">
                <a:highlight>
                  <a:srgbClr val="008000"/>
                </a:highlight>
              </a:rPr>
              <a:t>📄 </a:t>
            </a:r>
            <a:r>
              <a:rPr lang="en-IN" sz="1600" b="1" dirty="0">
                <a:highlight>
                  <a:srgbClr val="008000"/>
                </a:highlight>
              </a:rPr>
              <a:t>Pandas </a:t>
            </a:r>
            <a:r>
              <a:rPr lang="en-IN" sz="1600" b="1" dirty="0" err="1">
                <a:highlight>
                  <a:srgbClr val="008000"/>
                </a:highlight>
              </a:rPr>
              <a:t>DataFrame</a:t>
            </a:r>
            <a:endParaRPr lang="en-IN" sz="1600" b="1" dirty="0">
              <a:highlight>
                <a:srgbClr val="008000"/>
              </a:highlight>
            </a:endParaRPr>
          </a:p>
        </p:txBody>
      </p:sp>
      <p:sp>
        <p:nvSpPr>
          <p:cNvPr id="17" name="Rectangle: Rounded Corners 16">
            <a:extLst>
              <a:ext uri="{FF2B5EF4-FFF2-40B4-BE49-F238E27FC236}">
                <a16:creationId xmlns:a16="http://schemas.microsoft.com/office/drawing/2014/main" id="{254E0F79-9E9E-4F8C-1E97-3279F1F7FC80}"/>
              </a:ext>
            </a:extLst>
          </p:cNvPr>
          <p:cNvSpPr/>
          <p:nvPr/>
        </p:nvSpPr>
        <p:spPr>
          <a:xfrm>
            <a:off x="1233712" y="4840949"/>
            <a:ext cx="3149600" cy="475806"/>
          </a:xfrm>
          <a:prstGeom prst="roundRect">
            <a:avLst/>
          </a:prstGeom>
          <a:solidFill>
            <a:schemeClr val="bg1"/>
          </a:solidFill>
          <a:ln>
            <a:solidFill>
              <a:srgbClr val="FF0000"/>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6"/>
          </a:lnRef>
          <a:fillRef idx="3">
            <a:schemeClr val="accent6"/>
          </a:fillRef>
          <a:effectRef idx="3">
            <a:schemeClr val="accent6"/>
          </a:effectRef>
          <a:fontRef idx="minor">
            <a:schemeClr val="lt1"/>
          </a:fontRef>
        </p:style>
        <p:txBody>
          <a:bodyPr rtlCol="0" anchor="ctr"/>
          <a:lstStyle/>
          <a:p>
            <a:pPr algn="ctr"/>
            <a:r>
              <a:rPr lang="en-IN" dirty="0">
                <a:highlight>
                  <a:srgbClr val="008000"/>
                </a:highlight>
              </a:rPr>
              <a:t>🧹 </a:t>
            </a:r>
            <a:r>
              <a:rPr lang="en-IN" sz="1600" b="1" dirty="0">
                <a:highlight>
                  <a:srgbClr val="008000"/>
                </a:highlight>
              </a:rPr>
              <a:t>Data Cleaning</a:t>
            </a:r>
          </a:p>
        </p:txBody>
      </p:sp>
      <p:sp>
        <p:nvSpPr>
          <p:cNvPr id="18" name="Rectangle: Rounded Corners 17">
            <a:extLst>
              <a:ext uri="{FF2B5EF4-FFF2-40B4-BE49-F238E27FC236}">
                <a16:creationId xmlns:a16="http://schemas.microsoft.com/office/drawing/2014/main" id="{3E577771-5D3E-A620-8950-2AFF5E489278}"/>
              </a:ext>
            </a:extLst>
          </p:cNvPr>
          <p:cNvSpPr/>
          <p:nvPr/>
        </p:nvSpPr>
        <p:spPr>
          <a:xfrm>
            <a:off x="1233713" y="5591155"/>
            <a:ext cx="3149599" cy="727083"/>
          </a:xfrm>
          <a:prstGeom prst="roundRect">
            <a:avLst/>
          </a:prstGeom>
          <a:solidFill>
            <a:schemeClr val="bg1"/>
          </a:solidFill>
          <a:ln>
            <a:solidFill>
              <a:srgbClr val="FF0000"/>
            </a:solidFill>
          </a:ln>
          <a:effectLst>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highlight>
                  <a:srgbClr val="008000"/>
                </a:highlight>
              </a:rPr>
              <a:t>📊 </a:t>
            </a:r>
            <a:r>
              <a:rPr lang="en-IN" sz="1600" b="1" dirty="0">
                <a:highlight>
                  <a:srgbClr val="008000"/>
                </a:highlight>
              </a:rPr>
              <a:t>Exploratory Data Analysis</a:t>
            </a:r>
          </a:p>
        </p:txBody>
      </p:sp>
      <p:cxnSp>
        <p:nvCxnSpPr>
          <p:cNvPr id="20" name="Straight Arrow Connector 19">
            <a:extLst>
              <a:ext uri="{FF2B5EF4-FFF2-40B4-BE49-F238E27FC236}">
                <a16:creationId xmlns:a16="http://schemas.microsoft.com/office/drawing/2014/main" id="{33E16501-30E3-1FDE-B9F9-473630F6B237}"/>
              </a:ext>
            </a:extLst>
          </p:cNvPr>
          <p:cNvCxnSpPr>
            <a:stCxn id="12" idx="2"/>
          </p:cNvCxnSpPr>
          <p:nvPr/>
        </p:nvCxnSpPr>
        <p:spPr>
          <a:xfrm flipH="1">
            <a:off x="2806700" y="1419674"/>
            <a:ext cx="1813" cy="3143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421662C-8C49-4041-1189-9B07AE755661}"/>
              </a:ext>
            </a:extLst>
          </p:cNvPr>
          <p:cNvCxnSpPr>
            <a:stCxn id="13" idx="2"/>
            <a:endCxn id="14" idx="0"/>
          </p:cNvCxnSpPr>
          <p:nvPr/>
        </p:nvCxnSpPr>
        <p:spPr>
          <a:xfrm flipH="1">
            <a:off x="2808512" y="2207532"/>
            <a:ext cx="1" cy="3120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DD069967-F9EC-09A7-F7DA-CBF8475E9EEB}"/>
              </a:ext>
            </a:extLst>
          </p:cNvPr>
          <p:cNvCxnSpPr>
            <a:cxnSpLocks/>
            <a:stCxn id="15" idx="2"/>
          </p:cNvCxnSpPr>
          <p:nvPr/>
        </p:nvCxnSpPr>
        <p:spPr>
          <a:xfrm flipH="1">
            <a:off x="2806700" y="3816342"/>
            <a:ext cx="1812" cy="3927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E68CA20-31EB-09E4-9593-2A07A6744D0E}"/>
              </a:ext>
            </a:extLst>
          </p:cNvPr>
          <p:cNvCxnSpPr>
            <a:stCxn id="17" idx="2"/>
            <a:endCxn id="18" idx="0"/>
          </p:cNvCxnSpPr>
          <p:nvPr/>
        </p:nvCxnSpPr>
        <p:spPr>
          <a:xfrm>
            <a:off x="2808512" y="5316755"/>
            <a:ext cx="1" cy="27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BDCFF04-4A40-E946-ADAD-2E3446722536}"/>
              </a:ext>
            </a:extLst>
          </p:cNvPr>
          <p:cNvCxnSpPr>
            <a:stCxn id="16" idx="2"/>
          </p:cNvCxnSpPr>
          <p:nvPr/>
        </p:nvCxnSpPr>
        <p:spPr>
          <a:xfrm flipH="1">
            <a:off x="2806700" y="4566548"/>
            <a:ext cx="1814" cy="2744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68752AFE-2A70-93AE-8FC6-C766D64CE8ED}"/>
              </a:ext>
            </a:extLst>
          </p:cNvPr>
          <p:cNvSpPr/>
          <p:nvPr/>
        </p:nvSpPr>
        <p:spPr>
          <a:xfrm>
            <a:off x="5566239" y="1069066"/>
            <a:ext cx="5925461" cy="182653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r>
              <a:rPr lang="en-IN" b="1" dirty="0"/>
              <a:t>🔄 Methodology</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sz="1600" dirty="0"/>
              <a:t>Selected Flipkart as the data source. Targeted laptop product listing pages. </a:t>
            </a:r>
          </a:p>
          <a:p>
            <a:pPr marL="285750" indent="-285750">
              <a:buFont typeface="Arial" panose="020B0604020202020204" pitchFamily="34" charset="0"/>
              <a:buChar char="•"/>
            </a:pPr>
            <a:r>
              <a:rPr lang="en-IN" sz="1600" dirty="0"/>
              <a:t>Inspected the webpage using browser Developer Tools. </a:t>
            </a:r>
          </a:p>
          <a:p>
            <a:pPr marL="285750" indent="-285750">
              <a:buFont typeface="Arial" panose="020B0604020202020204" pitchFamily="34" charset="0"/>
              <a:buChar char="•"/>
            </a:pPr>
            <a:r>
              <a:rPr lang="en-IN" sz="1600" dirty="0"/>
              <a:t>Identified HTML tags and CSS classes containing laptop details.</a:t>
            </a:r>
          </a:p>
        </p:txBody>
      </p:sp>
      <p:sp>
        <p:nvSpPr>
          <p:cNvPr id="37" name="Rectangle 36">
            <a:extLst>
              <a:ext uri="{FF2B5EF4-FFF2-40B4-BE49-F238E27FC236}">
                <a16:creationId xmlns:a16="http://schemas.microsoft.com/office/drawing/2014/main" id="{33D957B3-9C34-225C-B510-DFBF6459423B}"/>
              </a:ext>
            </a:extLst>
          </p:cNvPr>
          <p:cNvSpPr/>
          <p:nvPr/>
        </p:nvSpPr>
        <p:spPr>
          <a:xfrm>
            <a:off x="5563519" y="3023026"/>
            <a:ext cx="5930900" cy="224835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marL="285750" indent="-285750">
              <a:buFont typeface="Arial" panose="020B0604020202020204" pitchFamily="34" charset="0"/>
              <a:buChar char="•"/>
            </a:pPr>
            <a:r>
              <a:rPr lang="en-IN" sz="1600" dirty="0"/>
              <a:t>Sent HTTP requests using the Requests library.</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Parsed HTML content using </a:t>
            </a:r>
            <a:r>
              <a:rPr lang="en-IN" sz="1600" dirty="0" err="1"/>
              <a:t>BeautifulSoup</a:t>
            </a:r>
            <a:r>
              <a:rPr lang="en-IN" sz="1600" dirty="0"/>
              <a:t>.</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Extracted: Brand ,Processor, etc.</a:t>
            </a:r>
          </a:p>
          <a:p>
            <a:pPr marL="285750" indent="-285750">
              <a:buFont typeface="Arial" panose="020B0604020202020204" pitchFamily="34" charset="0"/>
              <a:buChar char="•"/>
            </a:pPr>
            <a:r>
              <a:rPr lang="en-IN" sz="1600" dirty="0"/>
              <a:t>Removed duplicate records. Handled missing values.</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 Converted data types. Cleaned price and discount values</a:t>
            </a:r>
          </a:p>
        </p:txBody>
      </p:sp>
      <p:sp>
        <p:nvSpPr>
          <p:cNvPr id="39" name="Rectangle 38">
            <a:extLst>
              <a:ext uri="{FF2B5EF4-FFF2-40B4-BE49-F238E27FC236}">
                <a16:creationId xmlns:a16="http://schemas.microsoft.com/office/drawing/2014/main" id="{2C6D9213-8C7F-0C8C-5378-DC2428559F6E}"/>
              </a:ext>
            </a:extLst>
          </p:cNvPr>
          <p:cNvSpPr/>
          <p:nvPr/>
        </p:nvSpPr>
        <p:spPr>
          <a:xfrm>
            <a:off x="5563519" y="5670524"/>
            <a:ext cx="5749470" cy="56834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marL="285750" indent="-285750" algn="ctr">
              <a:buFont typeface="Arial" panose="020B0604020202020204" pitchFamily="34" charset="0"/>
              <a:buChar char="•"/>
            </a:pPr>
            <a:r>
              <a:rPr lang="en-IN" sz="1600" dirty="0"/>
              <a:t>Created charts and visualizations. Identified market trends and customer preferences. Generated business insights</a:t>
            </a:r>
          </a:p>
        </p:txBody>
      </p:sp>
      <p:sp>
        <p:nvSpPr>
          <p:cNvPr id="40" name="Right Brace 39">
            <a:extLst>
              <a:ext uri="{FF2B5EF4-FFF2-40B4-BE49-F238E27FC236}">
                <a16:creationId xmlns:a16="http://schemas.microsoft.com/office/drawing/2014/main" id="{FBF1474E-4C4E-989E-94F7-ACB6D4C39704}"/>
              </a:ext>
            </a:extLst>
          </p:cNvPr>
          <p:cNvSpPr/>
          <p:nvPr/>
        </p:nvSpPr>
        <p:spPr>
          <a:xfrm>
            <a:off x="4813291" y="1096715"/>
            <a:ext cx="631383" cy="1926311"/>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41" name="Right Brace 40">
            <a:extLst>
              <a:ext uri="{FF2B5EF4-FFF2-40B4-BE49-F238E27FC236}">
                <a16:creationId xmlns:a16="http://schemas.microsoft.com/office/drawing/2014/main" id="{21E01331-683C-B3AA-7154-0F547369F9DE}"/>
              </a:ext>
            </a:extLst>
          </p:cNvPr>
          <p:cNvSpPr/>
          <p:nvPr/>
        </p:nvSpPr>
        <p:spPr>
          <a:xfrm>
            <a:off x="4963898" y="3310595"/>
            <a:ext cx="529770" cy="1926311"/>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43" name="Straight Arrow Connector 42">
            <a:extLst>
              <a:ext uri="{FF2B5EF4-FFF2-40B4-BE49-F238E27FC236}">
                <a16:creationId xmlns:a16="http://schemas.microsoft.com/office/drawing/2014/main" id="{A8BC8C50-CE19-EE43-54FB-5A3D2881D4D8}"/>
              </a:ext>
            </a:extLst>
          </p:cNvPr>
          <p:cNvCxnSpPr/>
          <p:nvPr/>
        </p:nvCxnSpPr>
        <p:spPr>
          <a:xfrm>
            <a:off x="4383312" y="5954696"/>
            <a:ext cx="1061362"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034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97AFF63-3A19-F8DC-701B-9E41EF497321}"/>
              </a:ext>
            </a:extLst>
          </p:cNvPr>
          <p:cNvSpPr/>
          <p:nvPr/>
        </p:nvSpPr>
        <p:spPr>
          <a:xfrm>
            <a:off x="1103597" y="533400"/>
            <a:ext cx="10147300" cy="8890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800" b="1" dirty="0"/>
              <a:t>Technologies &amp; Libraries Used</a:t>
            </a:r>
            <a:endParaRPr lang="en-IN" sz="2800" dirty="0"/>
          </a:p>
        </p:txBody>
      </p:sp>
      <p:sp>
        <p:nvSpPr>
          <p:cNvPr id="11" name="Rectangle: Rounded Corners 10">
            <a:extLst>
              <a:ext uri="{FF2B5EF4-FFF2-40B4-BE49-F238E27FC236}">
                <a16:creationId xmlns:a16="http://schemas.microsoft.com/office/drawing/2014/main" id="{CB8EAEFC-061C-3152-2C38-0CECB8365CE6}"/>
              </a:ext>
            </a:extLst>
          </p:cNvPr>
          <p:cNvSpPr/>
          <p:nvPr/>
        </p:nvSpPr>
        <p:spPr>
          <a:xfrm>
            <a:off x="512618" y="1900449"/>
            <a:ext cx="3491346" cy="2117370"/>
          </a:xfrm>
          <a:prstGeom prst="roundRect">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IN" dirty="0"/>
              <a:t>🐍 </a:t>
            </a:r>
            <a:r>
              <a:rPr lang="en-GB" sz="1600" b="1" dirty="0" err="1"/>
              <a:t>Programmimng</a:t>
            </a:r>
            <a:r>
              <a:rPr lang="en-GB" sz="1600" b="1" dirty="0"/>
              <a:t> Language</a:t>
            </a:r>
          </a:p>
          <a:p>
            <a:pPr algn="ctr"/>
            <a:endParaRPr lang="en-GB" dirty="0"/>
          </a:p>
          <a:p>
            <a:pPr algn="ctr"/>
            <a:r>
              <a:rPr lang="en-GB" dirty="0"/>
              <a:t>Python</a:t>
            </a:r>
          </a:p>
          <a:p>
            <a:pPr algn="ctr"/>
            <a:endParaRPr lang="en-IN" dirty="0"/>
          </a:p>
        </p:txBody>
      </p:sp>
      <p:sp>
        <p:nvSpPr>
          <p:cNvPr id="14" name="Rectangle: Rounded Corners 13">
            <a:extLst>
              <a:ext uri="{FF2B5EF4-FFF2-40B4-BE49-F238E27FC236}">
                <a16:creationId xmlns:a16="http://schemas.microsoft.com/office/drawing/2014/main" id="{CA72D0A3-358F-D2F2-A057-B749F21A513A}"/>
              </a:ext>
            </a:extLst>
          </p:cNvPr>
          <p:cNvSpPr/>
          <p:nvPr/>
        </p:nvSpPr>
        <p:spPr>
          <a:xfrm>
            <a:off x="4507049" y="1900448"/>
            <a:ext cx="3298560" cy="2117370"/>
          </a:xfrm>
          <a:prstGeom prst="roundRect">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IN" dirty="0"/>
              <a:t>🌐 </a:t>
            </a:r>
            <a:r>
              <a:rPr lang="en-GB" sz="1600" b="1" dirty="0"/>
              <a:t>Web-Scraping, Requests</a:t>
            </a:r>
            <a:r>
              <a:rPr lang="en-GB" b="1" dirty="0"/>
              <a:t>,</a:t>
            </a:r>
          </a:p>
          <a:p>
            <a:pPr algn="ctr"/>
            <a:endParaRPr lang="en-GB" dirty="0"/>
          </a:p>
          <a:p>
            <a:pPr algn="ctr"/>
            <a:r>
              <a:rPr lang="en-GB" dirty="0" err="1"/>
              <a:t>BeautifulSoup</a:t>
            </a:r>
            <a:r>
              <a:rPr lang="en-GB" dirty="0"/>
              <a:t> ,Regex</a:t>
            </a:r>
            <a:endParaRPr lang="en-IN" dirty="0"/>
          </a:p>
        </p:txBody>
      </p:sp>
      <p:sp>
        <p:nvSpPr>
          <p:cNvPr id="16" name="Rectangle: Rounded Corners 15">
            <a:extLst>
              <a:ext uri="{FF2B5EF4-FFF2-40B4-BE49-F238E27FC236}">
                <a16:creationId xmlns:a16="http://schemas.microsoft.com/office/drawing/2014/main" id="{665AFEB5-AB36-E593-85C5-5FF987F7C5CC}"/>
              </a:ext>
            </a:extLst>
          </p:cNvPr>
          <p:cNvSpPr/>
          <p:nvPr/>
        </p:nvSpPr>
        <p:spPr>
          <a:xfrm>
            <a:off x="8308694" y="1900448"/>
            <a:ext cx="3052033" cy="2117370"/>
          </a:xfrm>
          <a:prstGeom prst="roundRect">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IN" dirty="0"/>
              <a:t>🗄️⚙️ </a:t>
            </a:r>
            <a:r>
              <a:rPr lang="en-GB" sz="1600" b="1" dirty="0"/>
              <a:t>Data manipulation</a:t>
            </a:r>
          </a:p>
          <a:p>
            <a:pPr algn="ctr"/>
            <a:endParaRPr lang="en-GB" dirty="0"/>
          </a:p>
          <a:p>
            <a:pPr algn="ctr"/>
            <a:r>
              <a:rPr lang="en-GB" dirty="0" err="1"/>
              <a:t>Numpy</a:t>
            </a:r>
            <a:r>
              <a:rPr lang="en-GB" dirty="0"/>
              <a:t> &amp; Pandas</a:t>
            </a:r>
            <a:endParaRPr lang="en-IN" dirty="0"/>
          </a:p>
        </p:txBody>
      </p:sp>
      <p:sp>
        <p:nvSpPr>
          <p:cNvPr id="17" name="Rectangle: Rounded Corners 16">
            <a:extLst>
              <a:ext uri="{FF2B5EF4-FFF2-40B4-BE49-F238E27FC236}">
                <a16:creationId xmlns:a16="http://schemas.microsoft.com/office/drawing/2014/main" id="{44ADEC2B-33F3-A7AC-4BE1-C933E33C894F}"/>
              </a:ext>
            </a:extLst>
          </p:cNvPr>
          <p:cNvSpPr/>
          <p:nvPr/>
        </p:nvSpPr>
        <p:spPr>
          <a:xfrm>
            <a:off x="1550531" y="4495866"/>
            <a:ext cx="3298560" cy="2117371"/>
          </a:xfrm>
          <a:prstGeom prst="roundRect">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IN" dirty="0"/>
              <a:t>📊 </a:t>
            </a:r>
            <a:r>
              <a:rPr lang="en-GB" sz="1600" b="1" dirty="0"/>
              <a:t>Visualization </a:t>
            </a:r>
          </a:p>
          <a:p>
            <a:pPr algn="ctr"/>
            <a:endParaRPr lang="en-GB" dirty="0"/>
          </a:p>
          <a:p>
            <a:pPr algn="ctr"/>
            <a:r>
              <a:rPr lang="en-GB" dirty="0" err="1"/>
              <a:t>Matplotlib,Seaborn</a:t>
            </a:r>
            <a:endParaRPr lang="en-IN" dirty="0"/>
          </a:p>
        </p:txBody>
      </p:sp>
      <p:sp>
        <p:nvSpPr>
          <p:cNvPr id="18" name="Rectangle: Rounded Corners 17">
            <a:extLst>
              <a:ext uri="{FF2B5EF4-FFF2-40B4-BE49-F238E27FC236}">
                <a16:creationId xmlns:a16="http://schemas.microsoft.com/office/drawing/2014/main" id="{778BC95E-86F0-C4B1-F342-65595F1AEE17}"/>
              </a:ext>
            </a:extLst>
          </p:cNvPr>
          <p:cNvSpPr/>
          <p:nvPr/>
        </p:nvSpPr>
        <p:spPr>
          <a:xfrm>
            <a:off x="5430982" y="4495867"/>
            <a:ext cx="3298560" cy="2117370"/>
          </a:xfrm>
          <a:prstGeom prst="roundRect">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GB"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r>
              <a:rPr lang="en-IN" dirty="0">
                <a:highlight>
                  <a:srgbClr val="00FFFF"/>
                </a:highlight>
              </a:rPr>
              <a:t>&lt;/&gt;</a:t>
            </a:r>
            <a:r>
              <a:rPr lang="en-IN" sz="1600" b="1" dirty="0"/>
              <a:t>Development Environment</a:t>
            </a:r>
          </a:p>
          <a:p>
            <a:pPr algn="ctr"/>
            <a:endParaRPr lang="en-IN" dirty="0"/>
          </a:p>
          <a:p>
            <a:pPr algn="ctr"/>
            <a:r>
              <a:rPr lang="en-IN" dirty="0"/>
              <a:t>Jupyter Notebook</a:t>
            </a:r>
          </a:p>
          <a:p>
            <a:pPr algn="ctr"/>
            <a:endParaRPr lang="en-IN" dirty="0"/>
          </a:p>
          <a:p>
            <a:pPr algn="ctr"/>
            <a:r>
              <a:rPr lang="en-IN" dirty="0"/>
              <a:t> </a:t>
            </a:r>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p:txBody>
      </p:sp>
    </p:spTree>
    <p:extLst>
      <p:ext uri="{BB962C8B-B14F-4D97-AF65-F5344CB8AC3E}">
        <p14:creationId xmlns:p14="http://schemas.microsoft.com/office/powerpoint/2010/main" val="3949921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8F2737C-4576-E9D2-5A4F-EA7EEB8C05D5}"/>
              </a:ext>
            </a:extLst>
          </p:cNvPr>
          <p:cNvSpPr>
            <a:spLocks noGrp="1"/>
          </p:cNvSpPr>
          <p:nvPr>
            <p:ph type="title"/>
          </p:nvPr>
        </p:nvSpPr>
        <p:spPr>
          <a:xfrm>
            <a:off x="359764" y="365126"/>
            <a:ext cx="11401706" cy="673966"/>
          </a:xfrm>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br>
              <a:rPr lang="en-IN" sz="2800" b="1" dirty="0"/>
            </a:br>
            <a:r>
              <a:rPr lang="en-IN" sz="2800" b="1" dirty="0"/>
              <a:t>Data Collection Process </a:t>
            </a:r>
            <a:r>
              <a:rPr lang="en-IN" sz="2700" b="1" dirty="0"/>
              <a:t>(Laptop Market Analysis)</a:t>
            </a:r>
            <a:br>
              <a:rPr lang="en-IN" sz="2700" b="1" dirty="0"/>
            </a:br>
            <a:endParaRPr lang="en-IN" sz="2700" dirty="0"/>
          </a:p>
        </p:txBody>
      </p:sp>
      <p:sp>
        <p:nvSpPr>
          <p:cNvPr id="7" name="Rectangle 6">
            <a:extLst>
              <a:ext uri="{FF2B5EF4-FFF2-40B4-BE49-F238E27FC236}">
                <a16:creationId xmlns:a16="http://schemas.microsoft.com/office/drawing/2014/main" id="{950A5DBD-CC0B-32BB-D06E-2B9322D6BF9C}"/>
              </a:ext>
            </a:extLst>
          </p:cNvPr>
          <p:cNvSpPr/>
          <p:nvPr/>
        </p:nvSpPr>
        <p:spPr>
          <a:xfrm>
            <a:off x="359764" y="1293380"/>
            <a:ext cx="11401706" cy="46614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GB" sz="2400" dirty="0">
                <a:highlight>
                  <a:srgbClr val="00FF00"/>
                </a:highlight>
              </a:rPr>
              <a:t>Part 1-Web Scraping -Flipkart</a:t>
            </a:r>
            <a:endParaRPr lang="en-IN" sz="2400" dirty="0">
              <a:highlight>
                <a:srgbClr val="00FF00"/>
              </a:highlight>
            </a:endParaRPr>
          </a:p>
        </p:txBody>
      </p:sp>
      <p:pic>
        <p:nvPicPr>
          <p:cNvPr id="3" name="Picture 2">
            <a:extLst>
              <a:ext uri="{FF2B5EF4-FFF2-40B4-BE49-F238E27FC236}">
                <a16:creationId xmlns:a16="http://schemas.microsoft.com/office/drawing/2014/main" id="{E0A4A988-F3CB-9D1B-CFC8-D4F65ECE0738}"/>
              </a:ext>
            </a:extLst>
          </p:cNvPr>
          <p:cNvPicPr>
            <a:picLocks noChangeAspect="1"/>
          </p:cNvPicPr>
          <p:nvPr/>
        </p:nvPicPr>
        <p:blipFill>
          <a:blip r:embed="rId2"/>
          <a:stretch>
            <a:fillRect/>
          </a:stretch>
        </p:blipFill>
        <p:spPr>
          <a:xfrm>
            <a:off x="365913" y="2013816"/>
            <a:ext cx="11460174" cy="4132152"/>
          </a:xfrm>
          <a:prstGeom prst="rect">
            <a:avLst/>
          </a:prstGeom>
          <a:ln>
            <a:solidFill>
              <a:schemeClr val="tx1"/>
            </a:solidFill>
          </a:ln>
        </p:spPr>
      </p:pic>
    </p:spTree>
    <p:extLst>
      <p:ext uri="{BB962C8B-B14F-4D97-AF65-F5344CB8AC3E}">
        <p14:creationId xmlns:p14="http://schemas.microsoft.com/office/powerpoint/2010/main" val="3382982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D443B-DE6D-313B-B596-4D454036420C}"/>
              </a:ext>
            </a:extLst>
          </p:cNvPr>
          <p:cNvSpPr>
            <a:spLocks noGrp="1"/>
          </p:cNvSpPr>
          <p:nvPr>
            <p:ph type="title" idx="4294967295"/>
          </p:nvPr>
        </p:nvSpPr>
        <p:spPr>
          <a:xfrm>
            <a:off x="308754" y="179388"/>
            <a:ext cx="11574490" cy="928687"/>
          </a:xfrm>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br>
              <a:rPr lang="en-IN" b="1" dirty="0"/>
            </a:br>
            <a:r>
              <a:rPr lang="en-IN" sz="3100" b="1" dirty="0"/>
              <a:t>Raw Dataset Overview</a:t>
            </a:r>
            <a:br>
              <a:rPr lang="en-IN" b="1" dirty="0"/>
            </a:br>
            <a:endParaRPr lang="en-IN" dirty="0"/>
          </a:p>
        </p:txBody>
      </p:sp>
      <p:pic>
        <p:nvPicPr>
          <p:cNvPr id="4" name="Picture 3">
            <a:extLst>
              <a:ext uri="{FF2B5EF4-FFF2-40B4-BE49-F238E27FC236}">
                <a16:creationId xmlns:a16="http://schemas.microsoft.com/office/drawing/2014/main" id="{0CEA3741-EB84-F8D4-1EF2-E246BB1383EB}"/>
              </a:ext>
            </a:extLst>
          </p:cNvPr>
          <p:cNvPicPr>
            <a:picLocks noChangeAspect="1"/>
          </p:cNvPicPr>
          <p:nvPr/>
        </p:nvPicPr>
        <p:blipFill>
          <a:blip r:embed="rId2"/>
          <a:stretch>
            <a:fillRect/>
          </a:stretch>
        </p:blipFill>
        <p:spPr>
          <a:xfrm>
            <a:off x="308755" y="1394084"/>
            <a:ext cx="11574490" cy="4826833"/>
          </a:xfrm>
          <a:prstGeom prst="rect">
            <a:avLst/>
          </a:prstGeom>
          <a:ln>
            <a:solidFill>
              <a:schemeClr val="tx1"/>
            </a:solidFill>
          </a:ln>
        </p:spPr>
      </p:pic>
    </p:spTree>
    <p:extLst>
      <p:ext uri="{BB962C8B-B14F-4D97-AF65-F5344CB8AC3E}">
        <p14:creationId xmlns:p14="http://schemas.microsoft.com/office/powerpoint/2010/main" val="1205473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5ADF927-6CEC-BA27-2A15-D0B7756E25CE}"/>
              </a:ext>
            </a:extLst>
          </p:cNvPr>
          <p:cNvSpPr/>
          <p:nvPr/>
        </p:nvSpPr>
        <p:spPr>
          <a:xfrm>
            <a:off x="138545" y="415636"/>
            <a:ext cx="11942619" cy="62345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800" b="1" dirty="0"/>
              <a:t>Data Cleaning &amp; Preprocessing</a:t>
            </a:r>
          </a:p>
          <a:p>
            <a:pPr algn="ctr"/>
            <a:endParaRPr lang="en-IN" dirty="0"/>
          </a:p>
        </p:txBody>
      </p:sp>
      <p:sp>
        <p:nvSpPr>
          <p:cNvPr id="6" name="Rectangle: Rounded Corners 5">
            <a:extLst>
              <a:ext uri="{FF2B5EF4-FFF2-40B4-BE49-F238E27FC236}">
                <a16:creationId xmlns:a16="http://schemas.microsoft.com/office/drawing/2014/main" id="{89498B08-C6D1-5EAE-9AFE-664A124FC201}"/>
              </a:ext>
            </a:extLst>
          </p:cNvPr>
          <p:cNvSpPr/>
          <p:nvPr/>
        </p:nvSpPr>
        <p:spPr>
          <a:xfrm>
            <a:off x="568037" y="1366161"/>
            <a:ext cx="2341418" cy="10668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latinLnBrk="1"/>
            <a:r>
              <a:rPr lang="en-IN" sz="2800" b="1" dirty="0">
                <a:solidFill>
                  <a:srgbClr val="FF0000"/>
                </a:solidFill>
              </a:rPr>
              <a:t>1573 </a:t>
            </a:r>
          </a:p>
          <a:p>
            <a:pPr algn="ctr"/>
            <a:endParaRPr lang="en-GB" b="1" dirty="0"/>
          </a:p>
          <a:p>
            <a:pPr algn="ctr"/>
            <a:r>
              <a:rPr lang="en-GB" b="1" dirty="0"/>
              <a:t>Raw Records</a:t>
            </a:r>
            <a:endParaRPr lang="en-IN" b="1" dirty="0"/>
          </a:p>
        </p:txBody>
      </p:sp>
      <p:sp>
        <p:nvSpPr>
          <p:cNvPr id="7" name="Rectangle: Rounded Corners 6">
            <a:extLst>
              <a:ext uri="{FF2B5EF4-FFF2-40B4-BE49-F238E27FC236}">
                <a16:creationId xmlns:a16="http://schemas.microsoft.com/office/drawing/2014/main" id="{9074153F-90FB-AF6F-D6DE-5907F86A5BFA}"/>
              </a:ext>
            </a:extLst>
          </p:cNvPr>
          <p:cNvSpPr/>
          <p:nvPr/>
        </p:nvSpPr>
        <p:spPr>
          <a:xfrm>
            <a:off x="4211782" y="1366161"/>
            <a:ext cx="2341418" cy="1066799"/>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2800" b="1" dirty="0">
                <a:solidFill>
                  <a:srgbClr val="FF0000"/>
                </a:solidFill>
              </a:rPr>
              <a:t>574</a:t>
            </a:r>
          </a:p>
          <a:p>
            <a:pPr algn="ctr"/>
            <a:endParaRPr lang="en-GB" b="1" dirty="0"/>
          </a:p>
          <a:p>
            <a:pPr algn="ctr"/>
            <a:r>
              <a:rPr lang="en-GB" b="1" dirty="0"/>
              <a:t>Duplicates Remove</a:t>
            </a:r>
            <a:endParaRPr lang="en-IN" b="1" dirty="0"/>
          </a:p>
        </p:txBody>
      </p:sp>
      <p:sp>
        <p:nvSpPr>
          <p:cNvPr id="8" name="Rectangle: Rounded Corners 7">
            <a:extLst>
              <a:ext uri="{FF2B5EF4-FFF2-40B4-BE49-F238E27FC236}">
                <a16:creationId xmlns:a16="http://schemas.microsoft.com/office/drawing/2014/main" id="{6F4C5E46-7FE8-08F8-80DC-99A177552880}"/>
              </a:ext>
            </a:extLst>
          </p:cNvPr>
          <p:cNvSpPr/>
          <p:nvPr/>
        </p:nvSpPr>
        <p:spPr>
          <a:xfrm>
            <a:off x="7842551" y="1366161"/>
            <a:ext cx="3006437" cy="1066798"/>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2800" b="1" dirty="0">
                <a:solidFill>
                  <a:srgbClr val="FF0000"/>
                </a:solidFill>
              </a:rPr>
              <a:t>909</a:t>
            </a:r>
          </a:p>
          <a:p>
            <a:pPr algn="ctr"/>
            <a:r>
              <a:rPr lang="en-GB" b="1" dirty="0"/>
              <a:t>Clean Records</a:t>
            </a:r>
            <a:endParaRPr lang="en-IN" b="1" dirty="0"/>
          </a:p>
        </p:txBody>
      </p:sp>
      <p:sp>
        <p:nvSpPr>
          <p:cNvPr id="21" name="TextBox 20">
            <a:extLst>
              <a:ext uri="{FF2B5EF4-FFF2-40B4-BE49-F238E27FC236}">
                <a16:creationId xmlns:a16="http://schemas.microsoft.com/office/drawing/2014/main" id="{72952D88-9527-4766-2691-FFA7BF4AFF7F}"/>
              </a:ext>
            </a:extLst>
          </p:cNvPr>
          <p:cNvSpPr txBox="1"/>
          <p:nvPr/>
        </p:nvSpPr>
        <p:spPr>
          <a:xfrm>
            <a:off x="447386" y="2760031"/>
            <a:ext cx="2988541" cy="307777"/>
          </a:xfrm>
          <a:prstGeom prst="rect">
            <a:avLst/>
          </a:prstGeom>
          <a:noFill/>
        </p:spPr>
        <p:txBody>
          <a:bodyPr wrap="square" rtlCol="0">
            <a:spAutoFit/>
          </a:bodyPr>
          <a:lstStyle/>
          <a:p>
            <a:pPr algn="ctr"/>
            <a:r>
              <a:rPr lang="en-GB" b="1" dirty="0"/>
              <a:t>Before cleaning</a:t>
            </a:r>
            <a:endParaRPr lang="en-IN" b="1" dirty="0"/>
          </a:p>
        </p:txBody>
      </p:sp>
      <p:sp>
        <p:nvSpPr>
          <p:cNvPr id="22" name="TextBox 21">
            <a:extLst>
              <a:ext uri="{FF2B5EF4-FFF2-40B4-BE49-F238E27FC236}">
                <a16:creationId xmlns:a16="http://schemas.microsoft.com/office/drawing/2014/main" id="{A36621AB-5DDE-7ED4-42AA-D9E0C8600808}"/>
              </a:ext>
            </a:extLst>
          </p:cNvPr>
          <p:cNvSpPr txBox="1"/>
          <p:nvPr/>
        </p:nvSpPr>
        <p:spPr>
          <a:xfrm>
            <a:off x="7912058" y="2760031"/>
            <a:ext cx="2022764" cy="307777"/>
          </a:xfrm>
          <a:prstGeom prst="rect">
            <a:avLst/>
          </a:prstGeom>
          <a:noFill/>
        </p:spPr>
        <p:txBody>
          <a:bodyPr wrap="square" rtlCol="0">
            <a:spAutoFit/>
          </a:bodyPr>
          <a:lstStyle/>
          <a:p>
            <a:r>
              <a:rPr lang="en-GB" b="1" dirty="0"/>
              <a:t>After cleaning</a:t>
            </a:r>
            <a:endParaRPr lang="en-IN" b="1" dirty="0"/>
          </a:p>
        </p:txBody>
      </p:sp>
      <p:sp>
        <p:nvSpPr>
          <p:cNvPr id="25" name="TextBox 24">
            <a:extLst>
              <a:ext uri="{FF2B5EF4-FFF2-40B4-BE49-F238E27FC236}">
                <a16:creationId xmlns:a16="http://schemas.microsoft.com/office/drawing/2014/main" id="{D56A4C94-9156-721F-1690-7B446C30045E}"/>
              </a:ext>
            </a:extLst>
          </p:cNvPr>
          <p:cNvSpPr txBox="1"/>
          <p:nvPr/>
        </p:nvSpPr>
        <p:spPr>
          <a:xfrm>
            <a:off x="4475018" y="2913919"/>
            <a:ext cx="2078182" cy="307777"/>
          </a:xfrm>
          <a:prstGeom prst="rect">
            <a:avLst/>
          </a:prstGeom>
          <a:noFill/>
        </p:spPr>
        <p:txBody>
          <a:bodyPr wrap="square" rtlCol="0">
            <a:spAutoFit/>
          </a:bodyPr>
          <a:lstStyle/>
          <a:p>
            <a:r>
              <a:rPr lang="en-GB" b="1" dirty="0"/>
              <a:t>Handled Duplicated</a:t>
            </a:r>
            <a:endParaRPr lang="en-IN" b="1" dirty="0"/>
          </a:p>
        </p:txBody>
      </p:sp>
      <p:pic>
        <p:nvPicPr>
          <p:cNvPr id="3" name="Picture 2">
            <a:extLst>
              <a:ext uri="{FF2B5EF4-FFF2-40B4-BE49-F238E27FC236}">
                <a16:creationId xmlns:a16="http://schemas.microsoft.com/office/drawing/2014/main" id="{278BA553-A351-119A-706B-F53D6BBF48EC}"/>
              </a:ext>
            </a:extLst>
          </p:cNvPr>
          <p:cNvPicPr>
            <a:picLocks noChangeAspect="1"/>
          </p:cNvPicPr>
          <p:nvPr/>
        </p:nvPicPr>
        <p:blipFill>
          <a:blip r:embed="rId2"/>
          <a:stretch>
            <a:fillRect/>
          </a:stretch>
        </p:blipFill>
        <p:spPr>
          <a:xfrm>
            <a:off x="761792" y="3232939"/>
            <a:ext cx="2936932" cy="2999630"/>
          </a:xfrm>
          <a:prstGeom prst="rect">
            <a:avLst/>
          </a:prstGeom>
          <a:ln>
            <a:solidFill>
              <a:schemeClr val="tx1"/>
            </a:solidFill>
          </a:ln>
        </p:spPr>
      </p:pic>
      <p:pic>
        <p:nvPicPr>
          <p:cNvPr id="9" name="Picture 8">
            <a:extLst>
              <a:ext uri="{FF2B5EF4-FFF2-40B4-BE49-F238E27FC236}">
                <a16:creationId xmlns:a16="http://schemas.microsoft.com/office/drawing/2014/main" id="{D33153BF-0681-119B-DB24-64255C26356C}"/>
              </a:ext>
            </a:extLst>
          </p:cNvPr>
          <p:cNvPicPr>
            <a:picLocks noChangeAspect="1"/>
          </p:cNvPicPr>
          <p:nvPr/>
        </p:nvPicPr>
        <p:blipFill>
          <a:blip r:embed="rId3"/>
          <a:stretch>
            <a:fillRect/>
          </a:stretch>
        </p:blipFill>
        <p:spPr>
          <a:xfrm>
            <a:off x="4281736" y="3221696"/>
            <a:ext cx="2686425" cy="2949533"/>
          </a:xfrm>
          <a:prstGeom prst="rect">
            <a:avLst/>
          </a:prstGeom>
          <a:ln>
            <a:solidFill>
              <a:schemeClr val="tx1"/>
            </a:solidFill>
          </a:ln>
        </p:spPr>
      </p:pic>
      <p:pic>
        <p:nvPicPr>
          <p:cNvPr id="11" name="Picture 10">
            <a:extLst>
              <a:ext uri="{FF2B5EF4-FFF2-40B4-BE49-F238E27FC236}">
                <a16:creationId xmlns:a16="http://schemas.microsoft.com/office/drawing/2014/main" id="{51AE7116-2F11-C44B-E79F-4DCB42FDA4A4}"/>
              </a:ext>
            </a:extLst>
          </p:cNvPr>
          <p:cNvPicPr>
            <a:picLocks noChangeAspect="1"/>
          </p:cNvPicPr>
          <p:nvPr/>
        </p:nvPicPr>
        <p:blipFill>
          <a:blip r:embed="rId4"/>
          <a:stretch>
            <a:fillRect/>
          </a:stretch>
        </p:blipFill>
        <p:spPr>
          <a:xfrm>
            <a:off x="7747613" y="3221695"/>
            <a:ext cx="2674666" cy="2949533"/>
          </a:xfrm>
          <a:prstGeom prst="rect">
            <a:avLst/>
          </a:prstGeom>
          <a:ln>
            <a:solidFill>
              <a:schemeClr val="tx1"/>
            </a:solidFill>
          </a:ln>
        </p:spPr>
      </p:pic>
    </p:spTree>
    <p:extLst>
      <p:ext uri="{BB962C8B-B14F-4D97-AF65-F5344CB8AC3E}">
        <p14:creationId xmlns:p14="http://schemas.microsoft.com/office/powerpoint/2010/main" val="1808721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6871C8-50F5-9916-C11B-05B56796E51E}"/>
              </a:ext>
            </a:extLst>
          </p:cNvPr>
          <p:cNvSpPr/>
          <p:nvPr/>
        </p:nvSpPr>
        <p:spPr>
          <a:xfrm>
            <a:off x="263236" y="346364"/>
            <a:ext cx="11693237" cy="83127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2800" b="1" dirty="0"/>
              <a:t>Dataset details</a:t>
            </a:r>
            <a:endParaRPr lang="en-IN" sz="2800" b="1" dirty="0"/>
          </a:p>
        </p:txBody>
      </p:sp>
      <p:sp>
        <p:nvSpPr>
          <p:cNvPr id="3" name="Rectangle 2">
            <a:extLst>
              <a:ext uri="{FF2B5EF4-FFF2-40B4-BE49-F238E27FC236}">
                <a16:creationId xmlns:a16="http://schemas.microsoft.com/office/drawing/2014/main" id="{AC6E0084-479A-1B31-89D9-F14044E2DF93}"/>
              </a:ext>
            </a:extLst>
          </p:cNvPr>
          <p:cNvSpPr/>
          <p:nvPr/>
        </p:nvSpPr>
        <p:spPr>
          <a:xfrm>
            <a:off x="788670" y="1440181"/>
            <a:ext cx="3543300" cy="136298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GB" b="1" dirty="0"/>
              <a:t>Dataset Details</a:t>
            </a:r>
          </a:p>
          <a:p>
            <a:r>
              <a:rPr lang="en-GB" b="1" dirty="0"/>
              <a:t>Data Source</a:t>
            </a:r>
            <a:r>
              <a:rPr lang="en-GB" dirty="0"/>
              <a:t>: Flipkart Laptop </a:t>
            </a:r>
          </a:p>
          <a:p>
            <a:r>
              <a:rPr lang="en-GB" b="1" dirty="0"/>
              <a:t>File </a:t>
            </a:r>
            <a:r>
              <a:rPr lang="en-GB" b="1" dirty="0" err="1"/>
              <a:t>Format</a:t>
            </a:r>
            <a:r>
              <a:rPr lang="en-GB" dirty="0" err="1"/>
              <a:t>:CSV</a:t>
            </a:r>
            <a:endParaRPr lang="en-GB" dirty="0"/>
          </a:p>
          <a:p>
            <a:r>
              <a:rPr lang="en-GB" b="1" dirty="0" err="1"/>
              <a:t>DataType</a:t>
            </a:r>
            <a:r>
              <a:rPr lang="en-GB" dirty="0"/>
              <a:t>: Structure Tabular Data</a:t>
            </a:r>
          </a:p>
          <a:p>
            <a:r>
              <a:rPr lang="en-GB" b="1" dirty="0"/>
              <a:t>Extracted Feature </a:t>
            </a:r>
            <a:r>
              <a:rPr lang="en-GB" dirty="0"/>
              <a:t>:9</a:t>
            </a:r>
          </a:p>
        </p:txBody>
      </p:sp>
      <p:sp>
        <p:nvSpPr>
          <p:cNvPr id="4" name="Rectangle 3">
            <a:extLst>
              <a:ext uri="{FF2B5EF4-FFF2-40B4-BE49-F238E27FC236}">
                <a16:creationId xmlns:a16="http://schemas.microsoft.com/office/drawing/2014/main" id="{239DEDDD-39AF-F2E4-EE88-61B45D59BAD2}"/>
              </a:ext>
            </a:extLst>
          </p:cNvPr>
          <p:cNvSpPr/>
          <p:nvPr/>
        </p:nvSpPr>
        <p:spPr>
          <a:xfrm>
            <a:off x="5543550" y="1440182"/>
            <a:ext cx="4480560" cy="136297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endParaRPr lang="en-GB" sz="1600" b="1" dirty="0"/>
          </a:p>
          <a:p>
            <a:endParaRPr lang="en-GB" b="1" dirty="0"/>
          </a:p>
          <a:p>
            <a:r>
              <a:rPr lang="en-GB" b="1" dirty="0"/>
              <a:t>Features Collected</a:t>
            </a:r>
          </a:p>
          <a:p>
            <a:pPr fontAlgn="ctr"/>
            <a:r>
              <a:rPr lang="en-IN" dirty="0"/>
              <a:t>Brand ,Processor, RAM, SSD, Display ,Price Discount, Ratings. </a:t>
            </a:r>
          </a:p>
          <a:p>
            <a:pPr fontAlgn="ctr"/>
            <a:r>
              <a:rPr lang="en-IN" dirty="0"/>
              <a:t>Missing value handling ,Duplicate removal, Data type conversion</a:t>
            </a:r>
          </a:p>
          <a:p>
            <a:pPr fontAlgn="ctr"/>
            <a:endParaRPr lang="en-IN" sz="1600" dirty="0"/>
          </a:p>
          <a:p>
            <a:pPr algn="ctr"/>
            <a:endParaRPr lang="en-IN" dirty="0"/>
          </a:p>
        </p:txBody>
      </p:sp>
      <p:pic>
        <p:nvPicPr>
          <p:cNvPr id="7" name="Picture 6">
            <a:extLst>
              <a:ext uri="{FF2B5EF4-FFF2-40B4-BE49-F238E27FC236}">
                <a16:creationId xmlns:a16="http://schemas.microsoft.com/office/drawing/2014/main" id="{9331000D-C1B5-F8EB-C2EB-12A7F2452651}"/>
              </a:ext>
            </a:extLst>
          </p:cNvPr>
          <p:cNvPicPr>
            <a:picLocks noChangeAspect="1"/>
          </p:cNvPicPr>
          <p:nvPr/>
        </p:nvPicPr>
        <p:blipFill>
          <a:blip r:embed="rId2"/>
          <a:stretch>
            <a:fillRect/>
          </a:stretch>
        </p:blipFill>
        <p:spPr>
          <a:xfrm>
            <a:off x="263235" y="3065705"/>
            <a:ext cx="11693238" cy="3185193"/>
          </a:xfrm>
          <a:prstGeom prst="rect">
            <a:avLst/>
          </a:prstGeom>
          <a:ln>
            <a:solidFill>
              <a:schemeClr val="tx1"/>
            </a:solidFill>
          </a:ln>
        </p:spPr>
      </p:pic>
    </p:spTree>
    <p:extLst>
      <p:ext uri="{BB962C8B-B14F-4D97-AF65-F5344CB8AC3E}">
        <p14:creationId xmlns:p14="http://schemas.microsoft.com/office/powerpoint/2010/main" val="20039661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836BF8-792F-DAE8-AED7-204493E01397}"/>
              </a:ext>
            </a:extLst>
          </p:cNvPr>
          <p:cNvPicPr>
            <a:picLocks noChangeAspect="1"/>
          </p:cNvPicPr>
          <p:nvPr/>
        </p:nvPicPr>
        <p:blipFill>
          <a:blip r:embed="rId2"/>
          <a:stretch>
            <a:fillRect/>
          </a:stretch>
        </p:blipFill>
        <p:spPr>
          <a:xfrm>
            <a:off x="299228" y="974361"/>
            <a:ext cx="11593543" cy="5156616"/>
          </a:xfrm>
          <a:prstGeom prst="rect">
            <a:avLst/>
          </a:prstGeom>
          <a:ln>
            <a:solidFill>
              <a:schemeClr val="tx1"/>
            </a:solidFill>
          </a:ln>
        </p:spPr>
      </p:pic>
      <p:sp>
        <p:nvSpPr>
          <p:cNvPr id="4" name="TextBox 3">
            <a:extLst>
              <a:ext uri="{FF2B5EF4-FFF2-40B4-BE49-F238E27FC236}">
                <a16:creationId xmlns:a16="http://schemas.microsoft.com/office/drawing/2014/main" id="{A8E5BD55-2CFF-E746-2CB8-8D8A633BC6A5}"/>
              </a:ext>
            </a:extLst>
          </p:cNvPr>
          <p:cNvSpPr txBox="1"/>
          <p:nvPr/>
        </p:nvSpPr>
        <p:spPr>
          <a:xfrm>
            <a:off x="299227" y="374754"/>
            <a:ext cx="8215186" cy="338554"/>
          </a:xfrm>
          <a:prstGeom prst="rect">
            <a:avLst/>
          </a:prstGeom>
          <a:noFill/>
        </p:spPr>
        <p:txBody>
          <a:bodyPr wrap="square" rtlCol="0">
            <a:spAutoFit/>
          </a:bodyPr>
          <a:lstStyle/>
          <a:p>
            <a:r>
              <a:rPr lang="en-GB" sz="1600" b="1" dirty="0">
                <a:solidFill>
                  <a:srgbClr val="FF0000"/>
                </a:solidFill>
              </a:rPr>
              <a:t>Created new columns like </a:t>
            </a:r>
            <a:r>
              <a:rPr lang="en-GB" sz="1600" b="1" dirty="0" err="1">
                <a:solidFill>
                  <a:srgbClr val="FF0000"/>
                </a:solidFill>
              </a:rPr>
              <a:t>Price_Category,RAM_Category,SSD_category</a:t>
            </a:r>
            <a:endParaRPr lang="en-IN" sz="1600" b="1" dirty="0">
              <a:solidFill>
                <a:srgbClr val="FF0000"/>
              </a:solidFill>
            </a:endParaRPr>
          </a:p>
        </p:txBody>
      </p:sp>
    </p:spTree>
    <p:extLst>
      <p:ext uri="{BB962C8B-B14F-4D97-AF65-F5344CB8AC3E}">
        <p14:creationId xmlns:p14="http://schemas.microsoft.com/office/powerpoint/2010/main" val="843691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E3E3EE-2C9D-B2D5-8CE1-7AD854948218}"/>
              </a:ext>
            </a:extLst>
          </p:cNvPr>
          <p:cNvSpPr/>
          <p:nvPr/>
        </p:nvSpPr>
        <p:spPr>
          <a:xfrm>
            <a:off x="388620" y="331470"/>
            <a:ext cx="11304270" cy="8001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114300" lvl="0" algn="ctr">
              <a:lnSpc>
                <a:spcPct val="70000"/>
              </a:lnSpc>
              <a:spcBef>
                <a:spcPts val="1000"/>
              </a:spcBef>
              <a:buSzPts val="1800"/>
            </a:pPr>
            <a:r>
              <a:rPr lang="en-IN" sz="2800" b="1" dirty="0"/>
              <a:t>Exploratory Data Analysis (EDA)</a:t>
            </a:r>
          </a:p>
        </p:txBody>
      </p:sp>
      <p:sp>
        <p:nvSpPr>
          <p:cNvPr id="4" name="Rectangle 3">
            <a:extLst>
              <a:ext uri="{FF2B5EF4-FFF2-40B4-BE49-F238E27FC236}">
                <a16:creationId xmlns:a16="http://schemas.microsoft.com/office/drawing/2014/main" id="{B672577C-4C98-9779-387B-A4FB99B07A88}"/>
              </a:ext>
            </a:extLst>
          </p:cNvPr>
          <p:cNvSpPr/>
          <p:nvPr/>
        </p:nvSpPr>
        <p:spPr>
          <a:xfrm>
            <a:off x="524656" y="1484026"/>
            <a:ext cx="5726244" cy="5134131"/>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r>
              <a:rPr lang="en-IN" sz="2000" b="1" dirty="0"/>
              <a:t>Univariate Analysis for Brand Analysis:</a:t>
            </a:r>
          </a:p>
          <a:p>
            <a:r>
              <a:rPr lang="en-IN" sz="2000" dirty="0"/>
              <a:t>Univariate Analysis means </a:t>
            </a:r>
            <a:r>
              <a:rPr lang="en-IN" sz="2000" dirty="0" err="1"/>
              <a:t>analyzing</a:t>
            </a:r>
            <a:r>
              <a:rPr lang="en-IN" sz="2000" dirty="0"/>
              <a:t> one variable at a time.</a:t>
            </a:r>
          </a:p>
          <a:p>
            <a:r>
              <a:rPr lang="en-IN" sz="2000" dirty="0"/>
              <a:t>In the given </a:t>
            </a:r>
            <a:r>
              <a:rPr lang="en-IN" sz="2000" dirty="0" err="1"/>
              <a:t>countplot</a:t>
            </a:r>
            <a:r>
              <a:rPr lang="en-IN" sz="2000" dirty="0"/>
              <a:t> Asus brand dominating the market.</a:t>
            </a:r>
          </a:p>
          <a:p>
            <a:r>
              <a:rPr lang="en-IN" sz="2000" dirty="0"/>
              <a:t>The count plot displays the number of laptops available for each brand. Brands with taller bars have more laptop models listed on Flipkart. Brands with shorter bars have fewer laptop models. This visualization helps identify the most and least represented brands in the dataset.</a:t>
            </a:r>
          </a:p>
        </p:txBody>
      </p:sp>
      <p:pic>
        <p:nvPicPr>
          <p:cNvPr id="6" name="Picture 5">
            <a:extLst>
              <a:ext uri="{FF2B5EF4-FFF2-40B4-BE49-F238E27FC236}">
                <a16:creationId xmlns:a16="http://schemas.microsoft.com/office/drawing/2014/main" id="{83FC0ECF-2A86-059B-20D3-E4834B2792BD}"/>
              </a:ext>
            </a:extLst>
          </p:cNvPr>
          <p:cNvPicPr>
            <a:picLocks noChangeAspect="1"/>
          </p:cNvPicPr>
          <p:nvPr/>
        </p:nvPicPr>
        <p:blipFill>
          <a:blip r:embed="rId2"/>
          <a:stretch>
            <a:fillRect/>
          </a:stretch>
        </p:blipFill>
        <p:spPr>
          <a:xfrm>
            <a:off x="6250899" y="1484026"/>
            <a:ext cx="5396459" cy="4661941"/>
          </a:xfrm>
          <a:prstGeom prst="rect">
            <a:avLst/>
          </a:prstGeom>
        </p:spPr>
      </p:pic>
    </p:spTree>
    <p:extLst>
      <p:ext uri="{BB962C8B-B14F-4D97-AF65-F5344CB8AC3E}">
        <p14:creationId xmlns:p14="http://schemas.microsoft.com/office/powerpoint/2010/main" val="29838037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9E28E7-23A8-D3EA-A188-40A43D63658F}"/>
              </a:ext>
            </a:extLst>
          </p:cNvPr>
          <p:cNvPicPr>
            <a:picLocks noChangeAspect="1"/>
          </p:cNvPicPr>
          <p:nvPr/>
        </p:nvPicPr>
        <p:blipFill>
          <a:blip r:embed="rId2"/>
          <a:stretch>
            <a:fillRect/>
          </a:stretch>
        </p:blipFill>
        <p:spPr>
          <a:xfrm>
            <a:off x="5206115" y="1012108"/>
            <a:ext cx="6716062" cy="3934374"/>
          </a:xfrm>
          <a:prstGeom prst="rect">
            <a:avLst/>
          </a:prstGeom>
        </p:spPr>
      </p:pic>
      <p:sp>
        <p:nvSpPr>
          <p:cNvPr id="4" name="Rectangle 3">
            <a:extLst>
              <a:ext uri="{FF2B5EF4-FFF2-40B4-BE49-F238E27FC236}">
                <a16:creationId xmlns:a16="http://schemas.microsoft.com/office/drawing/2014/main" id="{7EAE45C5-7488-9B2F-6112-4511444E0924}"/>
              </a:ext>
            </a:extLst>
          </p:cNvPr>
          <p:cNvSpPr/>
          <p:nvPr/>
        </p:nvSpPr>
        <p:spPr>
          <a:xfrm>
            <a:off x="479685" y="745760"/>
            <a:ext cx="5366479" cy="5366479"/>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IN" sz="1800" b="1" dirty="0"/>
          </a:p>
          <a:p>
            <a:r>
              <a:rPr lang="en-IN" sz="2000" b="1" dirty="0"/>
              <a:t>1.Univariate Analysis for </a:t>
            </a:r>
            <a:r>
              <a:rPr lang="en-IN" sz="2000" b="1" dirty="0" err="1"/>
              <a:t>SSD_category</a:t>
            </a:r>
            <a:r>
              <a:rPr lang="en-IN" sz="2000" b="1" dirty="0"/>
              <a:t> Analysis:</a:t>
            </a:r>
          </a:p>
          <a:p>
            <a:r>
              <a:rPr lang="en-IN" sz="2000" dirty="0"/>
              <a:t>In the given </a:t>
            </a:r>
            <a:r>
              <a:rPr lang="en-IN" sz="2000" dirty="0" err="1"/>
              <a:t>countplot</a:t>
            </a:r>
            <a:r>
              <a:rPr lang="en-IN" sz="2000" dirty="0"/>
              <a:t>  Low SSD storage (256) </a:t>
            </a:r>
            <a:r>
              <a:rPr lang="en-IN" sz="2000" dirty="0" err="1"/>
              <a:t>gb</a:t>
            </a:r>
            <a:r>
              <a:rPr lang="en-IN" sz="2000" dirty="0"/>
              <a:t> dominating the market.</a:t>
            </a:r>
          </a:p>
          <a:p>
            <a:endParaRPr lang="en-IN" sz="2000" b="1" dirty="0"/>
          </a:p>
          <a:p>
            <a:r>
              <a:rPr lang="en-IN" sz="2000" b="1" dirty="0"/>
              <a:t> Low Storage (≤256 GB):</a:t>
            </a:r>
            <a:r>
              <a:rPr lang="en-IN" sz="2000" dirty="0"/>
              <a:t> Suitable for basic usage. </a:t>
            </a:r>
            <a:r>
              <a:rPr lang="en-IN" sz="2000" b="1" dirty="0"/>
              <a:t>Medium Storage (257–512 GB):</a:t>
            </a:r>
            <a:r>
              <a:rPr lang="en-IN" sz="2000" dirty="0"/>
              <a:t> Most common category for everyday users. </a:t>
            </a:r>
            <a:r>
              <a:rPr lang="en-IN" sz="2000" b="1" dirty="0"/>
              <a:t>High Storage (513 GB–1 TB):</a:t>
            </a:r>
            <a:r>
              <a:rPr lang="en-IN" sz="2000" dirty="0"/>
              <a:t> Preferred by professionals and gamers. </a:t>
            </a:r>
            <a:r>
              <a:rPr lang="en-IN" sz="2000" b="1" dirty="0"/>
              <a:t>Very High Storage (&gt;1 TB):</a:t>
            </a:r>
            <a:r>
              <a:rPr lang="en-IN" sz="2000" dirty="0"/>
              <a:t> Premium laptops with large storage capacity.</a:t>
            </a:r>
          </a:p>
        </p:txBody>
      </p:sp>
    </p:spTree>
    <p:extLst>
      <p:ext uri="{BB962C8B-B14F-4D97-AF65-F5344CB8AC3E}">
        <p14:creationId xmlns:p14="http://schemas.microsoft.com/office/powerpoint/2010/main" val="3239944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12F1B9-7B60-9AB3-5986-A5E6FBB3D77B}"/>
              </a:ext>
            </a:extLst>
          </p:cNvPr>
          <p:cNvPicPr>
            <a:picLocks noChangeAspect="1"/>
          </p:cNvPicPr>
          <p:nvPr/>
        </p:nvPicPr>
        <p:blipFill>
          <a:blip r:embed="rId2"/>
          <a:stretch>
            <a:fillRect/>
          </a:stretch>
        </p:blipFill>
        <p:spPr>
          <a:xfrm>
            <a:off x="6240905" y="1"/>
            <a:ext cx="5471410" cy="3252866"/>
          </a:xfrm>
          <a:prstGeom prst="rect">
            <a:avLst/>
          </a:prstGeom>
        </p:spPr>
      </p:pic>
      <p:sp>
        <p:nvSpPr>
          <p:cNvPr id="5" name="Rectangle 4">
            <a:extLst>
              <a:ext uri="{FF2B5EF4-FFF2-40B4-BE49-F238E27FC236}">
                <a16:creationId xmlns:a16="http://schemas.microsoft.com/office/drawing/2014/main" id="{0D92E3FA-1D08-BAC8-FDD7-45443776AB03}"/>
              </a:ext>
            </a:extLst>
          </p:cNvPr>
          <p:cNvSpPr/>
          <p:nvPr/>
        </p:nvSpPr>
        <p:spPr>
          <a:xfrm>
            <a:off x="479685" y="745760"/>
            <a:ext cx="5366479" cy="5366479"/>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IN" sz="1800" b="1" dirty="0"/>
          </a:p>
          <a:p>
            <a:r>
              <a:rPr lang="en-IN" sz="2400" b="1" dirty="0"/>
              <a:t>Univariate Analysis for 1.Discount_category Analysis:</a:t>
            </a:r>
          </a:p>
          <a:p>
            <a:r>
              <a:rPr lang="en-IN" sz="2400" dirty="0"/>
              <a:t>In the given </a:t>
            </a:r>
            <a:r>
              <a:rPr lang="en-IN" sz="2400" dirty="0" err="1"/>
              <a:t>countplot</a:t>
            </a:r>
            <a:r>
              <a:rPr lang="en-IN" sz="2400" dirty="0"/>
              <a:t>  greater than 20% to 30% discount having higher sales.</a:t>
            </a:r>
          </a:p>
          <a:p>
            <a:endParaRPr lang="en-IN" sz="2400" dirty="0"/>
          </a:p>
          <a:p>
            <a:endParaRPr lang="en-IN" sz="2400" dirty="0"/>
          </a:p>
          <a:p>
            <a:r>
              <a:rPr lang="en-IN" sz="2400" b="1" dirty="0"/>
              <a:t>2.Univariate Analysis for Rating Analysis:</a:t>
            </a:r>
          </a:p>
          <a:p>
            <a:r>
              <a:rPr lang="en-IN" sz="2400" dirty="0"/>
              <a:t>In the given </a:t>
            </a:r>
            <a:r>
              <a:rPr lang="en-IN" sz="2400" dirty="0" err="1"/>
              <a:t>countplot</a:t>
            </a:r>
            <a:r>
              <a:rPr lang="en-IN" sz="2400" dirty="0"/>
              <a:t>  4 to 4.5 is the higher ratings for the laptop.</a:t>
            </a:r>
          </a:p>
        </p:txBody>
      </p:sp>
      <p:pic>
        <p:nvPicPr>
          <p:cNvPr id="7" name="Picture 6">
            <a:extLst>
              <a:ext uri="{FF2B5EF4-FFF2-40B4-BE49-F238E27FC236}">
                <a16:creationId xmlns:a16="http://schemas.microsoft.com/office/drawing/2014/main" id="{86B71941-FD2A-4623-DF56-F6DB8FCA20AE}"/>
              </a:ext>
            </a:extLst>
          </p:cNvPr>
          <p:cNvPicPr>
            <a:picLocks noChangeAspect="1"/>
          </p:cNvPicPr>
          <p:nvPr/>
        </p:nvPicPr>
        <p:blipFill>
          <a:blip r:embed="rId3"/>
          <a:stretch>
            <a:fillRect/>
          </a:stretch>
        </p:blipFill>
        <p:spPr>
          <a:xfrm>
            <a:off x="6345838" y="3429000"/>
            <a:ext cx="5471410" cy="2683240"/>
          </a:xfrm>
          <a:prstGeom prst="rect">
            <a:avLst/>
          </a:prstGeom>
        </p:spPr>
      </p:pic>
    </p:spTree>
    <p:extLst>
      <p:ext uri="{BB962C8B-B14F-4D97-AF65-F5344CB8AC3E}">
        <p14:creationId xmlns:p14="http://schemas.microsoft.com/office/powerpoint/2010/main" val="22539825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785D758-4B1A-EB14-73A1-5FD1BF3D8026}"/>
              </a:ext>
            </a:extLst>
          </p:cNvPr>
          <p:cNvSpPr/>
          <p:nvPr/>
        </p:nvSpPr>
        <p:spPr>
          <a:xfrm>
            <a:off x="254832" y="164892"/>
            <a:ext cx="11287594" cy="115424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800" dirty="0"/>
              <a:t>EDA Bivariate Analysis</a:t>
            </a:r>
          </a:p>
        </p:txBody>
      </p:sp>
      <p:sp>
        <p:nvSpPr>
          <p:cNvPr id="3" name="Rectangle 2">
            <a:extLst>
              <a:ext uri="{FF2B5EF4-FFF2-40B4-BE49-F238E27FC236}">
                <a16:creationId xmlns:a16="http://schemas.microsoft.com/office/drawing/2014/main" id="{A6DB7840-5242-4D9A-F06E-E843E072270F}"/>
              </a:ext>
            </a:extLst>
          </p:cNvPr>
          <p:cNvSpPr/>
          <p:nvPr/>
        </p:nvSpPr>
        <p:spPr>
          <a:xfrm>
            <a:off x="254833" y="1633927"/>
            <a:ext cx="5649074" cy="5051685"/>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r>
              <a:rPr lang="en-GB" sz="2000" b="1" dirty="0"/>
              <a:t>1. Brand Vs. Price</a:t>
            </a:r>
          </a:p>
          <a:p>
            <a:r>
              <a:rPr lang="en-GB" sz="2000" dirty="0"/>
              <a:t>Asus offers laptops across all three price categories.</a:t>
            </a:r>
          </a:p>
          <a:p>
            <a:r>
              <a:rPr lang="en-GB" sz="2000" dirty="0" err="1"/>
              <a:t>Asus,Samsung</a:t>
            </a:r>
            <a:r>
              <a:rPr lang="en-GB" sz="2000" dirty="0"/>
              <a:t> </a:t>
            </a:r>
            <a:r>
              <a:rPr lang="en-GB" sz="2000" dirty="0" err="1"/>
              <a:t>HP,Acer</a:t>
            </a:r>
            <a:r>
              <a:rPr lang="en-GB" sz="2000" dirty="0"/>
              <a:t> has a strong presence in the Mid-Range category.</a:t>
            </a:r>
          </a:p>
          <a:p>
            <a:r>
              <a:rPr lang="en-GB" sz="2000" dirty="0"/>
              <a:t>ASUS offers both Mid-Range and Premium </a:t>
            </a:r>
            <a:r>
              <a:rPr lang="en-GB" sz="2000" dirty="0" err="1"/>
              <a:t>laptops.Budget</a:t>
            </a:r>
            <a:r>
              <a:rPr lang="en-GB" sz="2000" dirty="0"/>
              <a:t> laptops are concentrated among brands such as Acer, </a:t>
            </a:r>
            <a:r>
              <a:rPr lang="en-GB" sz="2000" dirty="0" err="1"/>
              <a:t>Infinix</a:t>
            </a:r>
            <a:r>
              <a:rPr lang="en-GB" sz="2000" dirty="0"/>
              <a:t>, and Ultimus (depending on your </a:t>
            </a:r>
            <a:r>
              <a:rPr lang="en-GB" sz="2000" dirty="0" err="1"/>
              <a:t>buget</a:t>
            </a:r>
            <a:r>
              <a:rPr lang="en-GB" sz="2000" dirty="0"/>
              <a:t>).</a:t>
            </a:r>
          </a:p>
          <a:p>
            <a:endParaRPr lang="en-GB" sz="2000" dirty="0"/>
          </a:p>
          <a:p>
            <a:r>
              <a:rPr lang="en-GB" sz="2000" b="1" dirty="0"/>
              <a:t>2.Avg Discount by Brand:</a:t>
            </a:r>
          </a:p>
          <a:p>
            <a:r>
              <a:rPr lang="en-GB" sz="2000" dirty="0"/>
              <a:t>In this </a:t>
            </a:r>
            <a:r>
              <a:rPr lang="en-GB" sz="2000" dirty="0" err="1"/>
              <a:t>barplot</a:t>
            </a:r>
            <a:r>
              <a:rPr lang="en-GB" sz="2000" dirty="0"/>
              <a:t> its clearly shown that almost all brands like Asus , </a:t>
            </a:r>
            <a:r>
              <a:rPr lang="en-GB" sz="2000" dirty="0" err="1"/>
              <a:t>Lenovo,walker,offers</a:t>
            </a:r>
            <a:r>
              <a:rPr lang="en-GB" sz="2000" dirty="0"/>
              <a:t> the discount from 20 to 30%.</a:t>
            </a:r>
          </a:p>
          <a:p>
            <a:endParaRPr lang="en-GB" sz="2000" dirty="0"/>
          </a:p>
          <a:p>
            <a:pPr algn="ctr"/>
            <a:endParaRPr lang="en-IN" dirty="0"/>
          </a:p>
        </p:txBody>
      </p:sp>
      <p:pic>
        <p:nvPicPr>
          <p:cNvPr id="7" name="Picture 6">
            <a:extLst>
              <a:ext uri="{FF2B5EF4-FFF2-40B4-BE49-F238E27FC236}">
                <a16:creationId xmlns:a16="http://schemas.microsoft.com/office/drawing/2014/main" id="{38B93811-18F8-337B-A3D2-6348E4241442}"/>
              </a:ext>
            </a:extLst>
          </p:cNvPr>
          <p:cNvPicPr>
            <a:picLocks noChangeAspect="1"/>
          </p:cNvPicPr>
          <p:nvPr/>
        </p:nvPicPr>
        <p:blipFill>
          <a:blip r:embed="rId2"/>
          <a:stretch>
            <a:fillRect/>
          </a:stretch>
        </p:blipFill>
        <p:spPr>
          <a:xfrm>
            <a:off x="6096000" y="1633927"/>
            <a:ext cx="5446426" cy="2038664"/>
          </a:xfrm>
          <a:prstGeom prst="rect">
            <a:avLst/>
          </a:prstGeom>
        </p:spPr>
      </p:pic>
      <p:pic>
        <p:nvPicPr>
          <p:cNvPr id="9" name="Picture 8">
            <a:extLst>
              <a:ext uri="{FF2B5EF4-FFF2-40B4-BE49-F238E27FC236}">
                <a16:creationId xmlns:a16="http://schemas.microsoft.com/office/drawing/2014/main" id="{97FA9B28-0C85-6C54-CD9D-DF36D5D239CE}"/>
              </a:ext>
            </a:extLst>
          </p:cNvPr>
          <p:cNvPicPr>
            <a:picLocks noChangeAspect="1"/>
          </p:cNvPicPr>
          <p:nvPr/>
        </p:nvPicPr>
        <p:blipFill>
          <a:blip r:embed="rId3"/>
          <a:stretch>
            <a:fillRect/>
          </a:stretch>
        </p:blipFill>
        <p:spPr>
          <a:xfrm>
            <a:off x="6447623" y="3987384"/>
            <a:ext cx="5446425" cy="2698228"/>
          </a:xfrm>
          <a:prstGeom prst="rect">
            <a:avLst/>
          </a:prstGeom>
        </p:spPr>
      </p:pic>
    </p:spTree>
    <p:extLst>
      <p:ext uri="{BB962C8B-B14F-4D97-AF65-F5344CB8AC3E}">
        <p14:creationId xmlns:p14="http://schemas.microsoft.com/office/powerpoint/2010/main" val="41448352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88EAF5-DFFC-49C0-7529-69B67D6A8B24}"/>
              </a:ext>
            </a:extLst>
          </p:cNvPr>
          <p:cNvPicPr>
            <a:picLocks noChangeAspect="1"/>
          </p:cNvPicPr>
          <p:nvPr/>
        </p:nvPicPr>
        <p:blipFill>
          <a:blip r:embed="rId2"/>
          <a:stretch>
            <a:fillRect/>
          </a:stretch>
        </p:blipFill>
        <p:spPr>
          <a:xfrm>
            <a:off x="6288095" y="1892749"/>
            <a:ext cx="5108695" cy="4391638"/>
          </a:xfrm>
          <a:prstGeom prst="rect">
            <a:avLst/>
          </a:prstGeom>
        </p:spPr>
      </p:pic>
      <p:sp>
        <p:nvSpPr>
          <p:cNvPr id="7" name="Rectangle 6">
            <a:extLst>
              <a:ext uri="{FF2B5EF4-FFF2-40B4-BE49-F238E27FC236}">
                <a16:creationId xmlns:a16="http://schemas.microsoft.com/office/drawing/2014/main" id="{D6559C36-E1CF-DDA0-F65D-005EB8DCF479}"/>
              </a:ext>
            </a:extLst>
          </p:cNvPr>
          <p:cNvSpPr/>
          <p:nvPr/>
        </p:nvSpPr>
        <p:spPr>
          <a:xfrm>
            <a:off x="254833" y="1783830"/>
            <a:ext cx="5649074" cy="4901782"/>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marL="457200" indent="-457200">
              <a:buAutoNum type="arabicPeriod"/>
            </a:pPr>
            <a:r>
              <a:rPr lang="en-GB" sz="2000" b="1" dirty="0"/>
              <a:t>RAM VS.SSD</a:t>
            </a:r>
          </a:p>
          <a:p>
            <a:r>
              <a:rPr lang="en-GB" sz="2000" dirty="0"/>
              <a:t> </a:t>
            </a:r>
            <a:r>
              <a:rPr lang="en-GB" sz="2000" b="1" dirty="0"/>
              <a:t>Laptops with 8 GB RAM are commonly paired with 256 GB or 512 GB SSDs.- 16 GB RAM laptops most frequently come with 512 GB SSDs.- 32 GB RAM laptops are usually equipped with 1 TB (1024 GB) SSDs.</a:t>
            </a:r>
          </a:p>
          <a:p>
            <a:r>
              <a:rPr lang="en-IN" sz="2000" dirty="0"/>
              <a:t>Premium laptops often combine 16 GB or 32 GB RAM with 512 GB or 1 TB SSD. Budget laptops typically have 8 GB RAM and 256 GB or 512 GB SSD. The scatter plot helps identify whether manufacturers tend to pair higher RAM with higher storage</a:t>
            </a:r>
            <a:endParaRPr lang="en-GB" sz="2000" dirty="0"/>
          </a:p>
          <a:p>
            <a:endParaRPr lang="en-GB" sz="2000" dirty="0"/>
          </a:p>
          <a:p>
            <a:pPr algn="ctr"/>
            <a:endParaRPr lang="en-IN" dirty="0"/>
          </a:p>
        </p:txBody>
      </p:sp>
      <p:sp>
        <p:nvSpPr>
          <p:cNvPr id="9" name="Rectangle 8">
            <a:extLst>
              <a:ext uri="{FF2B5EF4-FFF2-40B4-BE49-F238E27FC236}">
                <a16:creationId xmlns:a16="http://schemas.microsoft.com/office/drawing/2014/main" id="{03D025F6-B17E-A0AD-33B7-4B9E4116A89C}"/>
              </a:ext>
            </a:extLst>
          </p:cNvPr>
          <p:cNvSpPr/>
          <p:nvPr/>
        </p:nvSpPr>
        <p:spPr>
          <a:xfrm>
            <a:off x="254832" y="164892"/>
            <a:ext cx="11287594" cy="115424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800" dirty="0"/>
              <a:t>EDA Bivariate Analysis</a:t>
            </a:r>
          </a:p>
        </p:txBody>
      </p:sp>
    </p:spTree>
    <p:extLst>
      <p:ext uri="{BB962C8B-B14F-4D97-AF65-F5344CB8AC3E}">
        <p14:creationId xmlns:p14="http://schemas.microsoft.com/office/powerpoint/2010/main" val="35719439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3EBDB-6286-909C-8EE0-E1B1CCB8315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8A9016A-21B9-A157-C39A-B60B403CF8DB}"/>
              </a:ext>
            </a:extLst>
          </p:cNvPr>
          <p:cNvSpPr/>
          <p:nvPr/>
        </p:nvSpPr>
        <p:spPr>
          <a:xfrm>
            <a:off x="254832" y="164892"/>
            <a:ext cx="11287594" cy="115424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800" dirty="0"/>
              <a:t>EDA Multivariate Analysis</a:t>
            </a:r>
          </a:p>
        </p:txBody>
      </p:sp>
      <p:pic>
        <p:nvPicPr>
          <p:cNvPr id="6" name="Picture 5">
            <a:extLst>
              <a:ext uri="{FF2B5EF4-FFF2-40B4-BE49-F238E27FC236}">
                <a16:creationId xmlns:a16="http://schemas.microsoft.com/office/drawing/2014/main" id="{77807BBF-CDA7-605D-767C-97BDEB98B614}"/>
              </a:ext>
            </a:extLst>
          </p:cNvPr>
          <p:cNvPicPr>
            <a:picLocks noChangeAspect="1"/>
          </p:cNvPicPr>
          <p:nvPr/>
        </p:nvPicPr>
        <p:blipFill>
          <a:blip r:embed="rId2"/>
          <a:stretch>
            <a:fillRect/>
          </a:stretch>
        </p:blipFill>
        <p:spPr>
          <a:xfrm>
            <a:off x="4721901" y="1376075"/>
            <a:ext cx="6565692" cy="4769891"/>
          </a:xfrm>
          <a:prstGeom prst="rect">
            <a:avLst/>
          </a:prstGeom>
        </p:spPr>
      </p:pic>
      <p:sp>
        <p:nvSpPr>
          <p:cNvPr id="7" name="Rectangle 6">
            <a:extLst>
              <a:ext uri="{FF2B5EF4-FFF2-40B4-BE49-F238E27FC236}">
                <a16:creationId xmlns:a16="http://schemas.microsoft.com/office/drawing/2014/main" id="{834B95B3-6F38-3462-6488-0BD8034CE978}"/>
              </a:ext>
            </a:extLst>
          </p:cNvPr>
          <p:cNvSpPr/>
          <p:nvPr/>
        </p:nvSpPr>
        <p:spPr>
          <a:xfrm>
            <a:off x="254832" y="1693889"/>
            <a:ext cx="4467069" cy="4152275"/>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GB" sz="2000" b="1" dirty="0"/>
              <a:t>1.Discount Vs Ratings VS Brand </a:t>
            </a:r>
          </a:p>
          <a:p>
            <a:r>
              <a:rPr lang="en-GB" sz="2000" dirty="0"/>
              <a:t>Each point represents one laptop.</a:t>
            </a:r>
          </a:p>
          <a:p>
            <a:r>
              <a:rPr lang="en-GB" sz="2000" dirty="0"/>
              <a:t> The x-axis shows the Discount (%). The y-axis shows the Customer </a:t>
            </a:r>
            <a:r>
              <a:rPr lang="en-GB" sz="2000" dirty="0" err="1"/>
              <a:t>Rating.Different</a:t>
            </a:r>
            <a:r>
              <a:rPr lang="en-GB" sz="2000" dirty="0"/>
              <a:t> </a:t>
            </a:r>
            <a:r>
              <a:rPr lang="en-GB" sz="2000" dirty="0" err="1"/>
              <a:t>colors</a:t>
            </a:r>
            <a:r>
              <a:rPr lang="en-GB" sz="2000" dirty="0"/>
              <a:t> (in the first plot) represent different </a:t>
            </a:r>
            <a:r>
              <a:rPr lang="en-GB" sz="2000" dirty="0" err="1"/>
              <a:t>Brand_Title</a:t>
            </a:r>
            <a:r>
              <a:rPr lang="en-GB" sz="2000" dirty="0"/>
              <a:t> values, making it easy to compare brands and identify patterns or outliers</a:t>
            </a:r>
            <a:r>
              <a:rPr lang="en-GB" dirty="0"/>
              <a:t>.</a:t>
            </a:r>
            <a:endParaRPr lang="en-IN" dirty="0"/>
          </a:p>
        </p:txBody>
      </p:sp>
    </p:spTree>
    <p:extLst>
      <p:ext uri="{BB962C8B-B14F-4D97-AF65-F5344CB8AC3E}">
        <p14:creationId xmlns:p14="http://schemas.microsoft.com/office/powerpoint/2010/main" val="40747433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0C18B3F-7324-5592-856C-A26ED5065FE8}"/>
              </a:ext>
            </a:extLst>
          </p:cNvPr>
          <p:cNvSpPr/>
          <p:nvPr/>
        </p:nvSpPr>
        <p:spPr>
          <a:xfrm>
            <a:off x="254832" y="164892"/>
            <a:ext cx="11287594" cy="115424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800" dirty="0"/>
              <a:t>EDA Multivariate Analysis</a:t>
            </a:r>
          </a:p>
        </p:txBody>
      </p:sp>
      <p:pic>
        <p:nvPicPr>
          <p:cNvPr id="5" name="Picture 4">
            <a:extLst>
              <a:ext uri="{FF2B5EF4-FFF2-40B4-BE49-F238E27FC236}">
                <a16:creationId xmlns:a16="http://schemas.microsoft.com/office/drawing/2014/main" id="{07F939A9-5E9F-FAD0-ED3E-6E3052153F63}"/>
              </a:ext>
            </a:extLst>
          </p:cNvPr>
          <p:cNvPicPr>
            <a:picLocks noChangeAspect="1"/>
          </p:cNvPicPr>
          <p:nvPr/>
        </p:nvPicPr>
        <p:blipFill>
          <a:blip r:embed="rId2"/>
          <a:stretch>
            <a:fillRect/>
          </a:stretch>
        </p:blipFill>
        <p:spPr>
          <a:xfrm>
            <a:off x="4347148" y="1537046"/>
            <a:ext cx="7195278" cy="4353533"/>
          </a:xfrm>
          <a:prstGeom prst="rect">
            <a:avLst/>
          </a:prstGeom>
        </p:spPr>
      </p:pic>
      <p:sp>
        <p:nvSpPr>
          <p:cNvPr id="6" name="Rectangle 5">
            <a:extLst>
              <a:ext uri="{FF2B5EF4-FFF2-40B4-BE49-F238E27FC236}">
                <a16:creationId xmlns:a16="http://schemas.microsoft.com/office/drawing/2014/main" id="{1DD6B135-0AF9-CC49-01C1-DF815C5E5766}"/>
              </a:ext>
            </a:extLst>
          </p:cNvPr>
          <p:cNvSpPr/>
          <p:nvPr/>
        </p:nvSpPr>
        <p:spPr>
          <a:xfrm>
            <a:off x="254832" y="1537045"/>
            <a:ext cx="4092316" cy="435353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r>
              <a:rPr lang="en-IN" sz="2000" b="1" dirty="0"/>
              <a:t>1. Price Vs SSD Vs RAM Vs Rating and Display</a:t>
            </a:r>
          </a:p>
          <a:p>
            <a:r>
              <a:rPr lang="en-IN" sz="2000" b="1" dirty="0"/>
              <a:t>RAM ↔ Price:</a:t>
            </a:r>
            <a:r>
              <a:rPr lang="en-IN" sz="2000" dirty="0"/>
              <a:t> Strong positive correlation (higher RAM often means higher price). </a:t>
            </a:r>
            <a:r>
              <a:rPr lang="en-IN" sz="2000" b="1" dirty="0"/>
              <a:t>SSD ↔ Price:</a:t>
            </a:r>
            <a:r>
              <a:rPr lang="en-IN" sz="2000" dirty="0"/>
              <a:t> Positive correlation (larger SSDs tend to increase price). </a:t>
            </a:r>
            <a:r>
              <a:rPr lang="en-IN" sz="2000" b="1" dirty="0"/>
              <a:t>RAM ↔ SSD:</a:t>
            </a:r>
            <a:r>
              <a:rPr lang="en-IN" sz="2000" dirty="0"/>
              <a:t> Moderate to strong positive correlation. </a:t>
            </a:r>
            <a:r>
              <a:rPr lang="en-IN" sz="2000" b="1" dirty="0"/>
              <a:t>Discount ↔ Price:</a:t>
            </a:r>
            <a:r>
              <a:rPr lang="en-IN" sz="2000" dirty="0"/>
              <a:t> Often weak or negative correlation. </a:t>
            </a:r>
            <a:r>
              <a:rPr lang="en-IN" sz="2000" b="1" dirty="0"/>
              <a:t>Ratings:</a:t>
            </a:r>
            <a:r>
              <a:rPr lang="en-IN" sz="2000" dirty="0"/>
              <a:t> Usually weak to moderate correlation.</a:t>
            </a:r>
            <a:endParaRPr lang="en-IN" dirty="0"/>
          </a:p>
        </p:txBody>
      </p:sp>
    </p:spTree>
    <p:extLst>
      <p:ext uri="{BB962C8B-B14F-4D97-AF65-F5344CB8AC3E}">
        <p14:creationId xmlns:p14="http://schemas.microsoft.com/office/powerpoint/2010/main" val="30267117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2404B96-8259-EF6C-8728-3AC7A41E3F79}"/>
              </a:ext>
            </a:extLst>
          </p:cNvPr>
          <p:cNvSpPr/>
          <p:nvPr/>
        </p:nvSpPr>
        <p:spPr>
          <a:xfrm>
            <a:off x="764498" y="149903"/>
            <a:ext cx="10792918" cy="100434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2800" b="1" dirty="0"/>
              <a:t>Key Analysis Questions (Use Cases)</a:t>
            </a:r>
          </a:p>
          <a:p>
            <a:pPr algn="ctr"/>
            <a:endParaRPr lang="en-IN" dirty="0"/>
          </a:p>
        </p:txBody>
      </p:sp>
      <p:sp>
        <p:nvSpPr>
          <p:cNvPr id="19" name="Rectangle 18">
            <a:extLst>
              <a:ext uri="{FF2B5EF4-FFF2-40B4-BE49-F238E27FC236}">
                <a16:creationId xmlns:a16="http://schemas.microsoft.com/office/drawing/2014/main" id="{3CC1CB8D-29C0-62B0-14EE-559569AEB138}"/>
              </a:ext>
            </a:extLst>
          </p:cNvPr>
          <p:cNvSpPr/>
          <p:nvPr/>
        </p:nvSpPr>
        <p:spPr>
          <a:xfrm>
            <a:off x="764498" y="1319135"/>
            <a:ext cx="10792918" cy="4946754"/>
          </a:xfrm>
          <a:prstGeom prst="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r>
              <a:rPr lang="en-IN" sz="1600" b="1" dirty="0"/>
              <a:t>1. Which laptop brand has the highest number of listings on Flipkart? </a:t>
            </a:r>
          </a:p>
          <a:p>
            <a:r>
              <a:rPr lang="en-IN" sz="1600" dirty="0"/>
              <a:t>    Brands like HP, Lenovo, and ASUS have the highest number of laptop listings, indicating a strong market presence</a:t>
            </a:r>
            <a:r>
              <a:rPr lang="en-IN" sz="1600" b="1" dirty="0"/>
              <a:t>.</a:t>
            </a:r>
          </a:p>
          <a:p>
            <a:endParaRPr lang="en-IN" sz="1600" b="1" dirty="0"/>
          </a:p>
          <a:p>
            <a:r>
              <a:rPr lang="en-IN" sz="1600" b="1" dirty="0"/>
              <a:t>2. Which price category contains the most laptops?</a:t>
            </a:r>
          </a:p>
          <a:p>
            <a:r>
              <a:rPr lang="en-IN" sz="1600" dirty="0"/>
              <a:t>   The Mid-Range category has the highest number of laptops, showing that most products target average consumers</a:t>
            </a:r>
            <a:r>
              <a:rPr lang="en-IN" sz="1600" b="1" dirty="0"/>
              <a:t>.</a:t>
            </a:r>
          </a:p>
          <a:p>
            <a:endParaRPr lang="en-IN" sz="1600" b="1" dirty="0"/>
          </a:p>
          <a:p>
            <a:r>
              <a:rPr lang="en-IN" sz="1600" b="1" dirty="0"/>
              <a:t>3. Does higher RAM lead to higher laptop prices?</a:t>
            </a:r>
          </a:p>
          <a:p>
            <a:r>
              <a:rPr lang="en-IN" sz="1600" dirty="0"/>
              <a:t>    Yes. Laptops with 16 GB or 32 GB RAM generally have higher prices than those with 8 GB RAM.</a:t>
            </a:r>
          </a:p>
          <a:p>
            <a:endParaRPr lang="en-IN" sz="1600" dirty="0"/>
          </a:p>
          <a:p>
            <a:r>
              <a:rPr lang="en-IN" sz="1600" b="1" dirty="0"/>
              <a:t>4. Is there a relationship between SSD capacity and laptop price?</a:t>
            </a:r>
          </a:p>
          <a:p>
            <a:r>
              <a:rPr lang="en-IN" sz="1600" dirty="0"/>
              <a:t>    Yes. Laptops with 512 GB and 1 TB SSDs are generally more expensive than laptops with 256 GB SSDs.</a:t>
            </a:r>
          </a:p>
          <a:p>
            <a:r>
              <a:rPr lang="en-IN" sz="1600" b="1" dirty="0"/>
              <a:t>5. Which brands provide the highest discounts?</a:t>
            </a:r>
          </a:p>
          <a:p>
            <a:r>
              <a:rPr lang="en-IN" sz="1600" dirty="0"/>
              <a:t>    Budget-oriented brands generally offer higher average discounts, while premium brands tend to offer smaller      discounts</a:t>
            </a:r>
            <a:r>
              <a:rPr lang="en-IN" sz="1600" b="1" dirty="0"/>
              <a:t>.</a:t>
            </a:r>
          </a:p>
          <a:p>
            <a:r>
              <a:rPr lang="en-IN" sz="1600" b="1" dirty="0"/>
              <a:t>6.Which processor category dominates the market?</a:t>
            </a:r>
          </a:p>
          <a:p>
            <a:r>
              <a:rPr lang="en-IN" sz="1600" dirty="0"/>
              <a:t>  Mid-Range processors (such as Intel Core i5 and AMD </a:t>
            </a:r>
            <a:r>
              <a:rPr lang="en-IN" sz="1600" dirty="0" err="1"/>
              <a:t>Ryzen</a:t>
            </a:r>
            <a:r>
              <a:rPr lang="en-IN" sz="1600" dirty="0"/>
              <a:t> 5) appear most frequently, indicating strong customer  demand</a:t>
            </a:r>
          </a:p>
        </p:txBody>
      </p:sp>
    </p:spTree>
    <p:extLst>
      <p:ext uri="{BB962C8B-B14F-4D97-AF65-F5344CB8AC3E}">
        <p14:creationId xmlns:p14="http://schemas.microsoft.com/office/powerpoint/2010/main" val="8047601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E1D743-4375-156E-4780-4638984A53AB}"/>
              </a:ext>
            </a:extLst>
          </p:cNvPr>
          <p:cNvSpPr/>
          <p:nvPr/>
        </p:nvSpPr>
        <p:spPr>
          <a:xfrm>
            <a:off x="674557" y="404734"/>
            <a:ext cx="11287594" cy="989351"/>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114300" lvl="0" algn="ctr">
              <a:lnSpc>
                <a:spcPct val="70000"/>
              </a:lnSpc>
              <a:spcBef>
                <a:spcPts val="1000"/>
              </a:spcBef>
              <a:buSzPts val="1800"/>
            </a:pPr>
            <a:r>
              <a:rPr lang="en-IN" sz="2800" b="1" dirty="0"/>
              <a:t>Conclusion &amp; Key Findings</a:t>
            </a:r>
          </a:p>
        </p:txBody>
      </p:sp>
      <p:sp>
        <p:nvSpPr>
          <p:cNvPr id="5" name="Rectangle 4">
            <a:extLst>
              <a:ext uri="{FF2B5EF4-FFF2-40B4-BE49-F238E27FC236}">
                <a16:creationId xmlns:a16="http://schemas.microsoft.com/office/drawing/2014/main" id="{4848EF54-A30C-3898-3D2C-902F8F3AD124}"/>
              </a:ext>
            </a:extLst>
          </p:cNvPr>
          <p:cNvSpPr/>
          <p:nvPr/>
        </p:nvSpPr>
        <p:spPr>
          <a:xfrm>
            <a:off x="674557" y="1573967"/>
            <a:ext cx="11287594" cy="4766872"/>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r>
              <a:rPr lang="en-IN" sz="1800" b="1" dirty="0"/>
              <a:t>Conclusion</a:t>
            </a:r>
            <a:r>
              <a:rPr lang="en-IN" sz="1800" dirty="0"/>
              <a:t> :</a:t>
            </a:r>
          </a:p>
          <a:p>
            <a:r>
              <a:rPr lang="en-IN" sz="1600" dirty="0"/>
              <a:t>	This project demonstrates how Python, Web Scraping (Requests &amp; </a:t>
            </a:r>
            <a:r>
              <a:rPr lang="en-IN" sz="1600" dirty="0" err="1"/>
              <a:t>BeautifulSoup</a:t>
            </a:r>
            <a:r>
              <a:rPr lang="en-IN" sz="1600" dirty="0"/>
              <a:t>), Regular Expressions, Pandas, NumPy, Matplotlib, and Seaborn can be used to collect, clean, </a:t>
            </a:r>
            <a:r>
              <a:rPr lang="en-IN" sz="1600" dirty="0" err="1"/>
              <a:t>analyze</a:t>
            </a:r>
            <a:r>
              <a:rPr lang="en-IN" sz="1600" dirty="0"/>
              <a:t>, and visualize real-world e-commerce data. The insights generated support better business decisions, competitive analysis, and customer-focused product recommendations.</a:t>
            </a:r>
          </a:p>
          <a:p>
            <a:endParaRPr lang="en-IN" sz="1600" dirty="0"/>
          </a:p>
          <a:p>
            <a:endParaRPr lang="en-IN" sz="1600" dirty="0"/>
          </a:p>
          <a:p>
            <a:r>
              <a:rPr lang="en-IN" sz="1800" b="1" dirty="0"/>
              <a:t>Key Findings:</a:t>
            </a:r>
          </a:p>
          <a:p>
            <a:pPr lvl="1"/>
            <a:r>
              <a:rPr lang="en-IN" sz="1600" dirty="0"/>
              <a:t>	HP, Lenovo, and ASUS have the highest number of laptop listings, indicating strong market presence on Flipkart. </a:t>
            </a:r>
          </a:p>
          <a:p>
            <a:pPr lvl="1"/>
            <a:r>
              <a:rPr lang="en-IN" sz="1600" dirty="0"/>
              <a:t>The Mid-Range price category contains the largest number of laptops, making it the most competitive market segment. Laptops with 16 GB RAM and 512 GB SSD are the most common configurations, showing high customer demand for balanced performance and storage.</a:t>
            </a:r>
          </a:p>
          <a:p>
            <a:pPr lvl="1"/>
            <a:r>
              <a:rPr lang="en-IN" sz="1600" dirty="0"/>
              <a:t>Premium processors (Intel Core i7/i9, Intel Core Ultra, AMD </a:t>
            </a:r>
            <a:r>
              <a:rPr lang="en-IN" sz="1600" dirty="0" err="1"/>
              <a:t>Ryzen</a:t>
            </a:r>
            <a:r>
              <a:rPr lang="en-IN" sz="1600" dirty="0"/>
              <a:t> 7/9) are generally associated with higher-priced laptops. </a:t>
            </a:r>
          </a:p>
          <a:p>
            <a:pPr lvl="1"/>
            <a:r>
              <a:rPr lang="en-IN" sz="1600" dirty="0"/>
              <a:t>There is a positive relationship between RAM, SSD capacity, and price—higher specifications usually result in higher laptop prices. Most laptop ratings fall between 4.0 and 4.5, indicating generally high customer satisfaction across brands. Discounts vary by brand, with budget-oriented brands typically offering larger discounts than premium brands. Premium brands generally have higher average prices, while budget brands focus on affordability and competitive discounts. Display sizes are relatively consistent across brands, with 15.6-inch displays being the most common.</a:t>
            </a:r>
          </a:p>
        </p:txBody>
      </p:sp>
    </p:spTree>
    <p:extLst>
      <p:ext uri="{BB962C8B-B14F-4D97-AF65-F5344CB8AC3E}">
        <p14:creationId xmlns:p14="http://schemas.microsoft.com/office/powerpoint/2010/main" val="40653293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D6D44D-A3D5-784C-67D9-D49099E143E9}"/>
              </a:ext>
            </a:extLst>
          </p:cNvPr>
          <p:cNvSpPr/>
          <p:nvPr/>
        </p:nvSpPr>
        <p:spPr>
          <a:xfrm>
            <a:off x="389744" y="239843"/>
            <a:ext cx="11482466" cy="88441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114300" lvl="0" algn="ctr">
              <a:lnSpc>
                <a:spcPct val="70000"/>
              </a:lnSpc>
              <a:spcBef>
                <a:spcPts val="1000"/>
              </a:spcBef>
              <a:buSzPts val="1800"/>
            </a:pPr>
            <a:r>
              <a:rPr lang="en-IN" sz="2800" b="1" dirty="0"/>
              <a:t>Visualizations &amp; Insights</a:t>
            </a:r>
          </a:p>
        </p:txBody>
      </p:sp>
      <p:pic>
        <p:nvPicPr>
          <p:cNvPr id="4" name="Picture 3">
            <a:extLst>
              <a:ext uri="{FF2B5EF4-FFF2-40B4-BE49-F238E27FC236}">
                <a16:creationId xmlns:a16="http://schemas.microsoft.com/office/drawing/2014/main" id="{D81B49E7-A94C-B287-7F1C-CDFC16E9E824}"/>
              </a:ext>
            </a:extLst>
          </p:cNvPr>
          <p:cNvPicPr>
            <a:picLocks noChangeAspect="1"/>
          </p:cNvPicPr>
          <p:nvPr/>
        </p:nvPicPr>
        <p:blipFill>
          <a:blip r:embed="rId2"/>
          <a:stretch>
            <a:fillRect/>
          </a:stretch>
        </p:blipFill>
        <p:spPr>
          <a:xfrm>
            <a:off x="6250899" y="1903750"/>
            <a:ext cx="5396459" cy="4049167"/>
          </a:xfrm>
          <a:prstGeom prst="rect">
            <a:avLst/>
          </a:prstGeom>
        </p:spPr>
      </p:pic>
      <p:sp>
        <p:nvSpPr>
          <p:cNvPr id="5" name="Rectangle 4">
            <a:extLst>
              <a:ext uri="{FF2B5EF4-FFF2-40B4-BE49-F238E27FC236}">
                <a16:creationId xmlns:a16="http://schemas.microsoft.com/office/drawing/2014/main" id="{E06EBEDC-0936-647A-D5EF-8E215869752A}"/>
              </a:ext>
            </a:extLst>
          </p:cNvPr>
          <p:cNvSpPr/>
          <p:nvPr/>
        </p:nvSpPr>
        <p:spPr>
          <a:xfrm>
            <a:off x="524656" y="1484026"/>
            <a:ext cx="5726244" cy="5134131"/>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r>
              <a:rPr lang="en-IN" sz="1800" b="1" dirty="0"/>
              <a:t>Univariate Analysis:</a:t>
            </a:r>
          </a:p>
          <a:p>
            <a:r>
              <a:rPr lang="en-IN" sz="1800" dirty="0"/>
              <a:t>Univariate Analysis means </a:t>
            </a:r>
            <a:r>
              <a:rPr lang="en-IN" sz="1800" dirty="0" err="1"/>
              <a:t>analyzing</a:t>
            </a:r>
            <a:r>
              <a:rPr lang="en-IN" sz="1800" dirty="0"/>
              <a:t> one variable at a time.</a:t>
            </a:r>
          </a:p>
          <a:p>
            <a:r>
              <a:rPr lang="en-IN" sz="1800" dirty="0"/>
              <a:t>In this </a:t>
            </a:r>
            <a:r>
              <a:rPr lang="en-IN" sz="1800" dirty="0" err="1"/>
              <a:t>Countplot</a:t>
            </a:r>
            <a:r>
              <a:rPr lang="en-IN" sz="1800" dirty="0"/>
              <a:t> it is clearly visible that </a:t>
            </a:r>
            <a:r>
              <a:rPr lang="en-IN" sz="1800" dirty="0" err="1"/>
              <a:t>asus</a:t>
            </a:r>
            <a:endParaRPr lang="en-IN" sz="1800" dirty="0"/>
          </a:p>
          <a:p>
            <a:endParaRPr lang="en-IN" b="1" dirty="0"/>
          </a:p>
        </p:txBody>
      </p:sp>
    </p:spTree>
    <p:extLst>
      <p:ext uri="{BB962C8B-B14F-4D97-AF65-F5344CB8AC3E}">
        <p14:creationId xmlns:p14="http://schemas.microsoft.com/office/powerpoint/2010/main" val="37435354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640616-C4F7-AB96-C8E1-E2CE9F9F5ABF}"/>
              </a:ext>
            </a:extLst>
          </p:cNvPr>
          <p:cNvPicPr>
            <a:picLocks noChangeAspect="1"/>
          </p:cNvPicPr>
          <p:nvPr/>
        </p:nvPicPr>
        <p:blipFill>
          <a:blip r:embed="rId2"/>
          <a:stretch>
            <a:fillRect/>
          </a:stretch>
        </p:blipFill>
        <p:spPr>
          <a:xfrm>
            <a:off x="5583290" y="1454046"/>
            <a:ext cx="5582429" cy="4427984"/>
          </a:xfrm>
          <a:prstGeom prst="rect">
            <a:avLst/>
          </a:prstGeom>
        </p:spPr>
      </p:pic>
      <p:sp>
        <p:nvSpPr>
          <p:cNvPr id="5" name="Rectangle 4">
            <a:extLst>
              <a:ext uri="{FF2B5EF4-FFF2-40B4-BE49-F238E27FC236}">
                <a16:creationId xmlns:a16="http://schemas.microsoft.com/office/drawing/2014/main" id="{73FA55EC-4455-8DB1-0FDE-18904DBFDC8A}"/>
              </a:ext>
            </a:extLst>
          </p:cNvPr>
          <p:cNvSpPr/>
          <p:nvPr/>
        </p:nvSpPr>
        <p:spPr>
          <a:xfrm>
            <a:off x="389744" y="239843"/>
            <a:ext cx="11482466" cy="88441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114300" lvl="0" algn="ctr">
              <a:lnSpc>
                <a:spcPct val="70000"/>
              </a:lnSpc>
              <a:spcBef>
                <a:spcPts val="1000"/>
              </a:spcBef>
              <a:buSzPts val="1800"/>
            </a:pPr>
            <a:r>
              <a:rPr lang="en-IN" sz="2800" b="1" dirty="0"/>
              <a:t>Visualizations &amp; Insights</a:t>
            </a:r>
          </a:p>
        </p:txBody>
      </p:sp>
      <p:sp>
        <p:nvSpPr>
          <p:cNvPr id="6" name="Rectangle 5">
            <a:extLst>
              <a:ext uri="{FF2B5EF4-FFF2-40B4-BE49-F238E27FC236}">
                <a16:creationId xmlns:a16="http://schemas.microsoft.com/office/drawing/2014/main" id="{784A16B0-33AD-7D83-3334-B63553F398E1}"/>
              </a:ext>
            </a:extLst>
          </p:cNvPr>
          <p:cNvSpPr/>
          <p:nvPr/>
        </p:nvSpPr>
        <p:spPr>
          <a:xfrm>
            <a:off x="389744" y="1349115"/>
            <a:ext cx="5081666" cy="4751882"/>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r>
              <a:rPr lang="en-GB" sz="2000" dirty="0"/>
              <a:t>Premium brands generally have higher prices, larger RAM, and better display sizes.- Mid-range brands offer a balance between price and ratings.</a:t>
            </a:r>
          </a:p>
          <a:p>
            <a:r>
              <a:rPr lang="en-GB" sz="2000" dirty="0"/>
              <a:t>Brands with 16 GB or 32 GB RAM are mostly in the higher price segment.- Display size varies only slightly across brands, while price and RAM show larger </a:t>
            </a:r>
            <a:r>
              <a:rPr lang="en-GB" sz="2000"/>
              <a:t>differences.</a:t>
            </a:r>
          </a:p>
          <a:p>
            <a:r>
              <a:rPr lang="en-GB" sz="2000"/>
              <a:t>Highly </a:t>
            </a:r>
            <a:r>
              <a:rPr lang="en-GB" sz="2000" dirty="0"/>
              <a:t>rated laptops are available across multiple brands, indicating that customer satisfaction is not determined by price alone.</a:t>
            </a:r>
            <a:endParaRPr lang="en-IN" sz="2000" dirty="0"/>
          </a:p>
        </p:txBody>
      </p:sp>
    </p:spTree>
    <p:extLst>
      <p:ext uri="{BB962C8B-B14F-4D97-AF65-F5344CB8AC3E}">
        <p14:creationId xmlns:p14="http://schemas.microsoft.com/office/powerpoint/2010/main" val="17026062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448B8B-9681-8D1A-B0BE-5E1154AF1D7A}"/>
              </a:ext>
            </a:extLst>
          </p:cNvPr>
          <p:cNvSpPr/>
          <p:nvPr/>
        </p:nvSpPr>
        <p:spPr>
          <a:xfrm>
            <a:off x="599606" y="239843"/>
            <a:ext cx="11272603" cy="77948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114300" lvl="0" algn="ctr">
              <a:lnSpc>
                <a:spcPct val="70000"/>
              </a:lnSpc>
              <a:spcBef>
                <a:spcPts val="1000"/>
              </a:spcBef>
              <a:buSzPts val="1800"/>
            </a:pPr>
            <a:r>
              <a:rPr lang="en-GB" sz="2800" b="1" dirty="0"/>
              <a:t>Challenges Faced During the Project</a:t>
            </a:r>
          </a:p>
        </p:txBody>
      </p:sp>
      <p:sp>
        <p:nvSpPr>
          <p:cNvPr id="3" name="Rectangle 2">
            <a:extLst>
              <a:ext uri="{FF2B5EF4-FFF2-40B4-BE49-F238E27FC236}">
                <a16:creationId xmlns:a16="http://schemas.microsoft.com/office/drawing/2014/main" id="{4D44E6C8-B213-F3FC-2B47-E14E345DA79F}"/>
              </a:ext>
            </a:extLst>
          </p:cNvPr>
          <p:cNvSpPr/>
          <p:nvPr/>
        </p:nvSpPr>
        <p:spPr>
          <a:xfrm>
            <a:off x="599607" y="1454046"/>
            <a:ext cx="11272603" cy="4721902"/>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lvl="1"/>
            <a:r>
              <a:rPr lang="en-IN" sz="1800" b="1" dirty="0"/>
              <a:t>Dynamic Website Structure</a:t>
            </a:r>
            <a:r>
              <a:rPr lang="en-IN" sz="1800" dirty="0"/>
              <a:t> </a:t>
            </a:r>
          </a:p>
          <a:p>
            <a:pPr lvl="1"/>
            <a:r>
              <a:rPr lang="en-IN" sz="1800" dirty="0"/>
              <a:t>Product information was stored in different HTML tags and classes, making data extraction challenging. </a:t>
            </a:r>
          </a:p>
          <a:p>
            <a:pPr lvl="1"/>
            <a:endParaRPr lang="en-IN" sz="1800" dirty="0"/>
          </a:p>
          <a:p>
            <a:pPr lvl="1"/>
            <a:r>
              <a:rPr lang="en-IN" sz="1800" b="1" dirty="0"/>
              <a:t>Missing Values</a:t>
            </a:r>
          </a:p>
          <a:p>
            <a:pPr lvl="1"/>
            <a:r>
              <a:rPr lang="en-IN" sz="1800" dirty="0"/>
              <a:t>Some laptop listings did not contain complete information such as ratings, discounts, SSD capacity, or display size, requiring data cleaning. </a:t>
            </a:r>
          </a:p>
          <a:p>
            <a:pPr lvl="1"/>
            <a:endParaRPr lang="en-IN" sz="1800" dirty="0"/>
          </a:p>
          <a:p>
            <a:pPr lvl="1"/>
            <a:r>
              <a:rPr lang="en-IN" sz="1800" b="1" dirty="0"/>
              <a:t>Data Cleaning</a:t>
            </a:r>
          </a:p>
          <a:p>
            <a:pPr lvl="1"/>
            <a:r>
              <a:rPr lang="en-IN" sz="1800" dirty="0"/>
              <a:t>Prices, discounts, RAM, and SSD values contained symbols and text (₹, %, GB, TB) that had to be cleaned and converted into numeric values. </a:t>
            </a:r>
          </a:p>
          <a:p>
            <a:pPr lvl="1"/>
            <a:endParaRPr lang="en-IN" sz="1800" dirty="0"/>
          </a:p>
          <a:p>
            <a:pPr lvl="1"/>
            <a:r>
              <a:rPr lang="en-IN" sz="1800" b="1" dirty="0"/>
              <a:t>Duplicate Records</a:t>
            </a:r>
          </a:p>
          <a:p>
            <a:pPr lvl="1"/>
            <a:r>
              <a:rPr lang="en-IN" sz="1800" dirty="0"/>
              <a:t>Similar laptop models appeared multiple times due to different sellers or offers, requiring duplicate detection and removal.</a:t>
            </a:r>
          </a:p>
        </p:txBody>
      </p:sp>
    </p:spTree>
    <p:extLst>
      <p:ext uri="{BB962C8B-B14F-4D97-AF65-F5344CB8AC3E}">
        <p14:creationId xmlns:p14="http://schemas.microsoft.com/office/powerpoint/2010/main" val="32880818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CC1B89F-AB44-F9F8-6C33-6CC26663E03E}"/>
              </a:ext>
            </a:extLst>
          </p:cNvPr>
          <p:cNvSpPr>
            <a:spLocks noGrp="1"/>
          </p:cNvSpPr>
          <p:nvPr>
            <p:ph type="body" idx="1"/>
          </p:nvPr>
        </p:nvSpPr>
        <p:spPr>
          <a:xfrm>
            <a:off x="838200" y="2248525"/>
            <a:ext cx="10515600" cy="3928438"/>
          </a:xfrm>
        </p:spPr>
        <p:txBody>
          <a:bodyPr/>
          <a:lstStyle/>
          <a:p>
            <a:pPr marL="114300" indent="0">
              <a:buNone/>
            </a:pPr>
            <a:r>
              <a:rPr lang="en-IN" dirty="0"/>
              <a:t>By integrating machine learning, real-time data updates, multiple data sources, and interactive dashboards, this project can evolve from a descriptive EDA study into a comprehensive laptop market intelligence platform that supports both customers and business decision-makers.</a:t>
            </a:r>
          </a:p>
        </p:txBody>
      </p:sp>
      <p:sp>
        <p:nvSpPr>
          <p:cNvPr id="4" name="Rectangle 3">
            <a:extLst>
              <a:ext uri="{FF2B5EF4-FFF2-40B4-BE49-F238E27FC236}">
                <a16:creationId xmlns:a16="http://schemas.microsoft.com/office/drawing/2014/main" id="{7C845379-93D1-4DAB-7B43-1210BAFEA894}"/>
              </a:ext>
            </a:extLst>
          </p:cNvPr>
          <p:cNvSpPr/>
          <p:nvPr/>
        </p:nvSpPr>
        <p:spPr>
          <a:xfrm>
            <a:off x="838200" y="434715"/>
            <a:ext cx="10515600" cy="110927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114300" lvl="0" algn="ctr">
              <a:lnSpc>
                <a:spcPct val="70000"/>
              </a:lnSpc>
              <a:spcBef>
                <a:spcPts val="1000"/>
              </a:spcBef>
              <a:buSzPts val="1800"/>
            </a:pPr>
            <a:r>
              <a:rPr lang="en-IN" sz="2800" b="1" dirty="0"/>
              <a:t>Future Improvements</a:t>
            </a:r>
          </a:p>
        </p:txBody>
      </p:sp>
    </p:spTree>
    <p:extLst>
      <p:ext uri="{BB962C8B-B14F-4D97-AF65-F5344CB8AC3E}">
        <p14:creationId xmlns:p14="http://schemas.microsoft.com/office/powerpoint/2010/main" val="8349532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1801</TotalTime>
  <Words>1896</Words>
  <Application>Microsoft Office PowerPoint</Application>
  <PresentationFormat>Widescreen</PresentationFormat>
  <Paragraphs>450</Paragraphs>
  <Slides>28</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Lato Black</vt:lpstr>
      <vt:lpstr>Libre Baskerville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 Website Selection &amp; Data Source </vt:lpstr>
      <vt:lpstr> Web Scraping Methodology </vt:lpstr>
      <vt:lpstr>PowerPoint Presentation</vt:lpstr>
      <vt:lpstr> Data Collection Process (Laptop Market Analysis) </vt:lpstr>
      <vt:lpstr> Raw Dataset Overview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Swati Thaware</cp:lastModifiedBy>
  <cp:revision>276</cp:revision>
  <dcterms:created xsi:type="dcterms:W3CDTF">2021-02-16T05:19:01Z</dcterms:created>
  <dcterms:modified xsi:type="dcterms:W3CDTF">2026-10-07T12:43:59Z</dcterms:modified>
</cp:coreProperties>
</file>